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This project asked one practical question: can a small business get trustworthy review-sentiment analytics for effectively zero infrastructure cost? We built the full pipeline — ingestion to dashboard — and measured everything: accuracy, latency, throughput, and a source-checked monthly cost model. Every number in this deck comes from an executed run stored in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gaps: price, skill, and trust. A salon or restaurant paying $299 a month for sentiment analytics is paying for roughly one engineer-hour per week of value. DIY alternatives need engineering the owner does not have. And existing tools rarely show how a score was produced. Free tiers look like the answer, but their real capacity is folklore — so we measured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objectives. Note that the proposal's stack — Firestore, Hugging Face, Streamlit — stays the design target; every layer is behind an interface so the identical code runs locally without any cloud credentials and deploys to the cloud unchanged. Objective five is what makes this a cloud-computing project and not just a demo: we measure the free tier rather than assume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entry point — lambda_handler — routes API-Gateway v1/v2 requests and S3 object-created events to ingestion, processing and read handlers. Behind it sit three pluggable layers: four sentiment engines, three storage backends, and object ingestion. The local FastAPI server forwards every HTTP request to this same function, so local and cloud behaviour cannot drift apart — that is local/cloud parity, and it is why the whole system could be tested without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Serverless changes the cost floor: at zero traffic the bill is zero, which no VM can match. The free tier covers a small business for a long time — but not literally everything: DynamoDB's on-demand mode bills per request even inside the free allowance, which is why our honest free-tier row at one million reviews is $2.50, not zero. The cold-start measurement decided the engine choice for us: 18.6 seconds to load DistilBERT is unusable behind an interactive API; 50 milliseconds for VADER is not.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one honest gap. The right column is what executes and is measured today; the left column is the proposal's hosted stack, which the remaining parts of the project will connect — Firestore and Streamlit Community Cloud. The interface abstraction means connecting them is configuration, not a rewrite: STORAGE_BACKEND=firestore and an HF token.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numbered stages. Ingestion (1–4) accepts CSV or JSON from the dashboard, the API or an S3 drop; normalises column aliases, validates rows, de-duplicates and upserts idempotently by review id. Processing (5–8) cleans each text, runs the engine into the three-class scheme with the 0.15 neutral band, extracts keywords, and writes label, confidence, per-class scores and engine back to the same record. Reads (9–10) aggregate summary/trends/keywords for the dashboard and API consumers. Batches are capped at 200 reviews to stay inside free-tier quotas.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dashboard, not a mock-up: headless-Chromium captures against the live local server with all 1,214 reviews loaded. KPIs, charts and keywords all come from the /summary, /trends and /keywords endpoints — the dashboard holds no data logic of its own. Both themes and the responsive layout were verified by the browser end-to-end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charts, four interaction flows matter for a real user: filtering the corpus by sentiment (charts and table update together), bulk CSV upload with a per-row success/failure report, instant single-review analysis for 'what does this complaint say', and a usable phone layout. The Playwright suite clicks through all of them headlessly and captured these screenshots as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is deliberately harsh. Because 98 percent of the corpus is positive, headline accuracy is nearly meaningless — we therefore lead with macro-F1 and per-class recall from the confusion matrices. VADER wins on the balanced measures while being three orders of magnitude cheaper to run per review. DistilBERT's negative recall of 10 out of 12 is the accuracy story, and its zero-neutral prediction is exactly the kind of finding the ablation and neutral-band design were built to surface.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slides' worth of numbers in one view. Warm latency: the lexicon engines answer in about a millisecond, DistilBERT in about fifty — fine for batches, marginal for an interactive API. Ingestion throughput is flat at roughly seventeen thousand reviews per second from one thousand to ten thousand rows, with memory under 150 megabytes — one order of magnitude above the largest modelled workload's steady-state rate. The cold-start column is the FaaS design input: total process time to first result is dominated by loading torch and the model weights.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model combines two measured inputs — 7.47 milliseconds per processed review including write-back, and 732 bytes stored per review — with published, dated prices. The headline: two dollars fifty per month for a million reviews under the free tier, three thirty-five without any free tier, against three hundred for a managed sentiment API. The always-on VM is the trap: eight dollars and change sounds cheap until you compare it with a serverless path that costs fractions of a cent at small volume — and still needs no one to patch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include challenges because a cloud project is mostly constraints. With no credentials, the honest move was local parity, not screenshots of consoles. The skewed dataset forced better metrics. The binary-transformer mismatch became the neutral-band feature — and its ablation. And the test suite paid for itself immediately: the cost model's first version multiplied per-million prices by raw counts and claimed $2,606 per month; a sanity check caught it, and a regression test now pins the arithmetic.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one sentence: the pipeline works, the numbers are real, and the cost is close to zero. What remains is connectivity, not construction — Firestore and Streamlit Community Cloud plug into the interfaces we already have. The measurement side continues too: fine-tuning for neutral recall, aspect-level sentiment for actionability, and extending the cost model from dollars to energy.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Happy to take questions. If anyone wants to see the system running, it starts with one script — scripts/run_local.ps1 — and the whole study re-runs with scripts/run_experiments.ps1. The report and every raw result file are in the 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21408"/>
            <a:ext cx="164592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22960"/>
            <a:ext cx="10607040" cy="1005840"/>
          </a:xfrm>
          <a:prstGeom prst="rect">
            <a:avLst/>
          </a:prstGeom>
          <a:noFill/>
        </p:spPr>
        <p:txBody>
          <a:bodyPr wrap="square" anchor="t">
            <a:spAutoFit/>
          </a:bodyPr>
          <a:lstStyle/>
          <a:p>
            <a:pPr algn="l"/>
            <a:r>
              <a:rPr sz="3600" b="1">
                <a:solidFill>
                  <a:srgbClr val="FFFFFF"/>
                </a:solidFill>
                <a:latin typeface="Segoe UI"/>
              </a:rPr>
              <a:t>Cloud-Based Customer Review
Sentiment Analysis Dashboard</a:t>
            </a:r>
          </a:p>
        </p:txBody>
      </p:sp>
      <p:sp>
        <p:nvSpPr>
          <p:cNvPr id="5" name="TextBox 4"/>
          <p:cNvSpPr txBox="1"/>
          <p:nvPr/>
        </p:nvSpPr>
        <p:spPr>
          <a:xfrm>
            <a:off x="822960" y="2359152"/>
            <a:ext cx="10058400" cy="548640"/>
          </a:xfrm>
          <a:prstGeom prst="rect">
            <a:avLst/>
          </a:prstGeom>
          <a:noFill/>
        </p:spPr>
        <p:txBody>
          <a:bodyPr wrap="square" anchor="t">
            <a:spAutoFit/>
          </a:bodyPr>
          <a:lstStyle/>
          <a:p>
            <a:pPr algn="l"/>
            <a:r>
              <a:rPr sz="1700" b="0">
                <a:solidFill>
                  <a:srgbClr val="E2E8F0"/>
                </a:solidFill>
                <a:latin typeface="Segoe UI"/>
              </a:rPr>
              <a:t>A serverless, free-tier cloud pipeline for small-business review analytics</a:t>
            </a:r>
          </a:p>
        </p:txBody>
      </p:sp>
      <p:sp>
        <p:nvSpPr>
          <p:cNvPr id="6" name="TextBox 5"/>
          <p:cNvSpPr txBox="1"/>
          <p:nvPr/>
        </p:nvSpPr>
        <p:spPr>
          <a:xfrm>
            <a:off x="822960" y="3063240"/>
            <a:ext cx="10058400" cy="1097280"/>
          </a:xfrm>
          <a:prstGeom prst="rect">
            <a:avLst/>
          </a:prstGeom>
          <a:noFill/>
        </p:spPr>
        <p:txBody>
          <a:bodyPr wrap="square" anchor="t">
            <a:spAutoFit/>
          </a:bodyPr>
          <a:lstStyle/>
          <a:p>
            <a:pPr algn="l"/>
            <a:r>
              <a:rPr sz="1400" b="0">
                <a:solidFill>
                  <a:srgbClr val="E2E8F0"/>
                </a:solidFill>
                <a:latin typeface="Segoe UI"/>
              </a:rPr>
              <a:t>Ahmed Bin Jaffar  ·  26MS-DS037  ·  MSDS Semester 2 — Cloud Computing
Sir Ab Raheem Ansari  ·  MUET  ·  October 2026</a:t>
            </a:r>
          </a:p>
        </p:txBody>
      </p:sp>
      <p:sp>
        <p:nvSpPr>
          <p:cNvPr id="7" name="Rounded Rectangle 6"/>
          <p:cNvSpPr/>
          <p:nvPr/>
        </p:nvSpPr>
        <p:spPr>
          <a:xfrm>
            <a:off x="822960" y="4663440"/>
            <a:ext cx="2468880" cy="1280160"/>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773168"/>
            <a:ext cx="2286000" cy="502920"/>
          </a:xfrm>
          <a:prstGeom prst="rect">
            <a:avLst/>
          </a:prstGeom>
          <a:noFill/>
        </p:spPr>
        <p:txBody>
          <a:bodyPr wrap="square" anchor="t">
            <a:spAutoFit/>
          </a:bodyPr>
          <a:lstStyle/>
          <a:p>
            <a:pPr algn="ctr"/>
            <a:r>
              <a:rPr sz="2400" b="1">
                <a:solidFill>
                  <a:srgbClr val="2563EB"/>
                </a:solidFill>
                <a:latin typeface="Segoe UI"/>
              </a:rPr>
              <a:t>1,214</a:t>
            </a:r>
          </a:p>
        </p:txBody>
      </p:sp>
      <p:sp>
        <p:nvSpPr>
          <p:cNvPr id="9" name="TextBox 8"/>
          <p:cNvSpPr txBox="1"/>
          <p:nvPr/>
        </p:nvSpPr>
        <p:spPr>
          <a:xfrm>
            <a:off x="914400" y="5321807"/>
            <a:ext cx="2286000" cy="548639"/>
          </a:xfrm>
          <a:prstGeom prst="rect">
            <a:avLst/>
          </a:prstGeom>
          <a:noFill/>
        </p:spPr>
        <p:txBody>
          <a:bodyPr wrap="square" anchor="t">
            <a:spAutoFit/>
          </a:bodyPr>
          <a:lstStyle/>
          <a:p>
            <a:pPr algn="ctr"/>
            <a:r>
              <a:rPr sz="1050" b="0">
                <a:solidFill>
                  <a:srgbClr val="64748B"/>
                </a:solidFill>
                <a:latin typeface="Segoe UI"/>
              </a:rPr>
              <a:t>real reviews evaluated</a:t>
            </a:r>
          </a:p>
        </p:txBody>
      </p:sp>
      <p:sp>
        <p:nvSpPr>
          <p:cNvPr id="10" name="Rounded Rectangle 9"/>
          <p:cNvSpPr/>
          <p:nvPr/>
        </p:nvSpPr>
        <p:spPr>
          <a:xfrm>
            <a:off x="3520440" y="4663440"/>
            <a:ext cx="2468880" cy="1280160"/>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4773168"/>
            <a:ext cx="2286000" cy="502920"/>
          </a:xfrm>
          <a:prstGeom prst="rect">
            <a:avLst/>
          </a:prstGeom>
          <a:noFill/>
        </p:spPr>
        <p:txBody>
          <a:bodyPr wrap="square" anchor="t">
            <a:spAutoFit/>
          </a:bodyPr>
          <a:lstStyle/>
          <a:p>
            <a:pPr algn="ctr"/>
            <a:r>
              <a:rPr sz="2400" b="1">
                <a:solidFill>
                  <a:srgbClr val="2563EB"/>
                </a:solidFill>
                <a:latin typeface="Segoe UI"/>
              </a:rPr>
              <a:t>4</a:t>
            </a:r>
          </a:p>
        </p:txBody>
      </p:sp>
      <p:sp>
        <p:nvSpPr>
          <p:cNvPr id="12" name="TextBox 11"/>
          <p:cNvSpPr txBox="1"/>
          <p:nvPr/>
        </p:nvSpPr>
        <p:spPr>
          <a:xfrm>
            <a:off x="3611880" y="5321807"/>
            <a:ext cx="2286000" cy="548639"/>
          </a:xfrm>
          <a:prstGeom prst="rect">
            <a:avLst/>
          </a:prstGeom>
          <a:noFill/>
        </p:spPr>
        <p:txBody>
          <a:bodyPr wrap="square" anchor="t">
            <a:spAutoFit/>
          </a:bodyPr>
          <a:lstStyle/>
          <a:p>
            <a:pPr algn="ctr"/>
            <a:r>
              <a:rPr sz="1050" b="0">
                <a:solidFill>
                  <a:srgbClr val="64748B"/>
                </a:solidFill>
                <a:latin typeface="Segoe UI"/>
              </a:rPr>
              <a:t>pluggable sentiment engines</a:t>
            </a:r>
          </a:p>
        </p:txBody>
      </p:sp>
      <p:sp>
        <p:nvSpPr>
          <p:cNvPr id="13" name="Rounded Rectangle 12"/>
          <p:cNvSpPr/>
          <p:nvPr/>
        </p:nvSpPr>
        <p:spPr>
          <a:xfrm>
            <a:off x="6217920" y="4663440"/>
            <a:ext cx="2468880" cy="1280160"/>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4773168"/>
            <a:ext cx="2286000" cy="502920"/>
          </a:xfrm>
          <a:prstGeom prst="rect">
            <a:avLst/>
          </a:prstGeom>
          <a:noFill/>
        </p:spPr>
        <p:txBody>
          <a:bodyPr wrap="square" anchor="t">
            <a:spAutoFit/>
          </a:bodyPr>
          <a:lstStyle/>
          <a:p>
            <a:pPr algn="ctr"/>
            <a:r>
              <a:rPr sz="2400" b="1">
                <a:solidFill>
                  <a:srgbClr val="2563EB"/>
                </a:solidFill>
                <a:latin typeface="Segoe UI"/>
              </a:rPr>
              <a:t>105</a:t>
            </a:r>
          </a:p>
        </p:txBody>
      </p:sp>
      <p:sp>
        <p:nvSpPr>
          <p:cNvPr id="15" name="TextBox 14"/>
          <p:cNvSpPr txBox="1"/>
          <p:nvPr/>
        </p:nvSpPr>
        <p:spPr>
          <a:xfrm>
            <a:off x="6309360" y="5321807"/>
            <a:ext cx="2286000" cy="548639"/>
          </a:xfrm>
          <a:prstGeom prst="rect">
            <a:avLst/>
          </a:prstGeom>
          <a:noFill/>
        </p:spPr>
        <p:txBody>
          <a:bodyPr wrap="square" anchor="t">
            <a:spAutoFit/>
          </a:bodyPr>
          <a:lstStyle/>
          <a:p>
            <a:pPr algn="ctr"/>
            <a:r>
              <a:rPr sz="1050" b="0">
                <a:solidFill>
                  <a:srgbClr val="64748B"/>
                </a:solidFill>
                <a:latin typeface="Segoe UI"/>
              </a:rPr>
              <a:t>automated tests, all passing</a:t>
            </a:r>
          </a:p>
        </p:txBody>
      </p:sp>
      <p:sp>
        <p:nvSpPr>
          <p:cNvPr id="16" name="Rounded Rectangle 15"/>
          <p:cNvSpPr/>
          <p:nvPr/>
        </p:nvSpPr>
        <p:spPr>
          <a:xfrm>
            <a:off x="8915400" y="4663440"/>
            <a:ext cx="2468880" cy="1280160"/>
          </a:xfrm>
          <a:prstGeom prst="roundRect">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4773168"/>
            <a:ext cx="2286000" cy="502920"/>
          </a:xfrm>
          <a:prstGeom prst="rect">
            <a:avLst/>
          </a:prstGeom>
          <a:noFill/>
        </p:spPr>
        <p:txBody>
          <a:bodyPr wrap="square" anchor="t">
            <a:spAutoFit/>
          </a:bodyPr>
          <a:lstStyle/>
          <a:p>
            <a:pPr algn="ctr"/>
            <a:r>
              <a:rPr sz="2400" b="1">
                <a:solidFill>
                  <a:srgbClr val="2563EB"/>
                </a:solidFill>
                <a:latin typeface="Segoe UI"/>
              </a:rPr>
              <a:t>$2.50/mo</a:t>
            </a:r>
          </a:p>
        </p:txBody>
      </p:sp>
      <p:sp>
        <p:nvSpPr>
          <p:cNvPr id="18" name="TextBox 17"/>
          <p:cNvSpPr txBox="1"/>
          <p:nvPr/>
        </p:nvSpPr>
        <p:spPr>
          <a:xfrm>
            <a:off x="9006840" y="5321807"/>
            <a:ext cx="2286000" cy="548639"/>
          </a:xfrm>
          <a:prstGeom prst="rect">
            <a:avLst/>
          </a:prstGeom>
          <a:noFill/>
        </p:spPr>
        <p:txBody>
          <a:bodyPr wrap="square" anchor="t">
            <a:spAutoFit/>
          </a:bodyPr>
          <a:lstStyle/>
          <a:p>
            <a:pPr algn="ctr"/>
            <a:r>
              <a:rPr sz="1050" b="0">
                <a:solidFill>
                  <a:srgbClr val="64748B"/>
                </a:solidFill>
                <a:latin typeface="Segoe UI"/>
              </a:rPr>
              <a:t>at 1M reviews, free tier</a:t>
            </a:r>
          </a:p>
        </p:txBody>
      </p:sp>
      <p:sp>
        <p:nvSpPr>
          <p:cNvPr id="19" name="TextBox 18"/>
          <p:cNvSpPr txBox="1"/>
          <p:nvPr/>
        </p:nvSpPr>
        <p:spPr>
          <a:xfrm>
            <a:off x="548640" y="6419088"/>
            <a:ext cx="7315200" cy="320040"/>
          </a:xfrm>
          <a:prstGeom prst="rect">
            <a:avLst/>
          </a:prstGeom>
          <a:noFill/>
        </p:spPr>
        <p:txBody>
          <a:bodyPr wrap="square" anchor="t">
            <a:spAutoFit/>
          </a:bodyPr>
          <a:lstStyle/>
          <a:p>
            <a:pPr algn="l"/>
            <a:r>
              <a:rPr sz="900" b="0">
                <a:solidFill>
                  <a:srgbClr val="E2E8F0"/>
                </a:solidFill>
                <a:latin typeface="Segoe UI"/>
              </a:rPr>
              <a:t>Cloud-Based Customer Review Sentiment Analysis Dashboard  ·  26MS-DS037</a:t>
            </a:r>
          </a:p>
        </p:txBody>
      </p:sp>
      <p:sp>
        <p:nvSpPr>
          <p:cNvPr id="20" name="TextBox 19"/>
          <p:cNvSpPr txBox="1"/>
          <p:nvPr/>
        </p:nvSpPr>
        <p:spPr>
          <a:xfrm>
            <a:off x="10972800" y="6419088"/>
            <a:ext cx="822960" cy="320040"/>
          </a:xfrm>
          <a:prstGeom prst="rect">
            <a:avLst/>
          </a:prstGeom>
          <a:noFill/>
        </p:spPr>
        <p:txBody>
          <a:bodyPr wrap="square" anchor="t">
            <a:spAutoFit/>
          </a:bodyPr>
          <a:lstStyle/>
          <a:p>
            <a:pPr algn="r"/>
            <a:r>
              <a:rPr sz="900" b="0">
                <a:solidFill>
                  <a:srgbClr val="E2E8F0"/>
                </a:solidFill>
                <a:latin typeface="Segoe UI"/>
              </a:rP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685800"/>
          </a:xfrm>
          <a:prstGeom prst="rect">
            <a:avLst/>
          </a:prstGeom>
          <a:noFill/>
        </p:spPr>
        <p:txBody>
          <a:bodyPr wrap="square" anchor="t">
            <a:spAutoFit/>
          </a:bodyPr>
          <a:lstStyle/>
          <a:p>
            <a:pPr algn="l"/>
            <a:r>
              <a:rPr sz="2800" b="1">
                <a:solidFill>
                  <a:srgbClr val="0F172A"/>
                </a:solidFill>
                <a:latin typeface="Segoe UI"/>
              </a:rPr>
              <a:t>The problem</a:t>
            </a:r>
          </a:p>
        </p:txBody>
      </p:sp>
      <p:sp>
        <p:nvSpPr>
          <p:cNvPr id="3" name="Rectangle 2"/>
          <p:cNvSpPr/>
          <p:nvPr/>
        </p:nvSpPr>
        <p:spPr>
          <a:xfrm>
            <a:off x="566928" y="969264"/>
            <a:ext cx="1371600"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48840" y="896112"/>
            <a:ext cx="9418320" cy="365760"/>
          </a:xfrm>
          <a:prstGeom prst="rect">
            <a:avLst/>
          </a:prstGeom>
          <a:noFill/>
        </p:spPr>
        <p:txBody>
          <a:bodyPr wrap="square" anchor="t">
            <a:spAutoFit/>
          </a:bodyPr>
          <a:lstStyle/>
          <a:p>
            <a:pPr algn="l"/>
            <a:r>
              <a:rPr sz="1300" b="0">
                <a:solidFill>
                  <a:srgbClr val="64748B"/>
                </a:solidFill>
                <a:latin typeface="Segoe UI"/>
              </a:rPr>
              <a:t>who needs this, and why it does not exist yet</a:t>
            </a:r>
          </a:p>
        </p:txBody>
      </p:sp>
      <p:sp>
        <p:nvSpPr>
          <p:cNvPr id="5" name="TextBox 4"/>
          <p:cNvSpPr txBox="1"/>
          <p:nvPr/>
        </p:nvSpPr>
        <p:spPr>
          <a:xfrm>
            <a:off x="548640" y="6419088"/>
            <a:ext cx="7315200" cy="320040"/>
          </a:xfrm>
          <a:prstGeom prst="rect">
            <a:avLst/>
          </a:prstGeom>
          <a:noFill/>
        </p:spPr>
        <p:txBody>
          <a:bodyPr wrap="square" anchor="t">
            <a:spAutoFit/>
          </a:bodyPr>
          <a:lstStyle/>
          <a:p>
            <a:pPr algn="l"/>
            <a:r>
              <a:rPr sz="900" b="0">
                <a:solidFill>
                  <a:srgbClr val="64748B"/>
                </a:solidFill>
                <a:latin typeface="Segoe UI"/>
              </a:rPr>
              <a:t>Cloud-Based Customer Review Sentiment Analysis Dashboard  ·  26MS-DS037</a:t>
            </a:r>
          </a:p>
        </p:txBody>
      </p:sp>
      <p:sp>
        <p:nvSpPr>
          <p:cNvPr id="6" name="TextBox 5"/>
          <p:cNvSpPr txBox="1"/>
          <p:nvPr/>
        </p:nvSpPr>
        <p:spPr>
          <a:xfrm>
            <a:off x="10972800" y="6419088"/>
            <a:ext cx="822960" cy="320040"/>
          </a:xfrm>
          <a:prstGeom prst="rect">
            <a:avLst/>
          </a:prstGeom>
          <a:noFill/>
        </p:spPr>
        <p:txBody>
          <a:bodyPr wrap="square" anchor="t">
            <a:spAutoFit/>
          </a:bodyPr>
          <a:lstStyle/>
          <a:p>
            <a:pPr algn="r"/>
            <a:r>
              <a:rPr sz="900" b="0">
                <a:solidFill>
                  <a:srgbClr val="64748B"/>
                </a:solidFill>
                <a:latin typeface="Segoe UI"/>
              </a:rPr>
              <a:t>2 / 15</a:t>
            </a:r>
          </a:p>
        </p:txBody>
      </p:sp>
      <p:sp>
        <p:nvSpPr>
          <p:cNvPr id="7" name="Rounded Rectangle 6"/>
          <p:cNvSpPr/>
          <p:nvPr/>
        </p:nvSpPr>
        <p:spPr>
          <a:xfrm>
            <a:off x="548640" y="1325880"/>
            <a:ext cx="5486400" cy="2103120"/>
          </a:xfrm>
          <a:prstGeom prst="round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64008" cy="21031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435607"/>
            <a:ext cx="5120640" cy="365760"/>
          </a:xfrm>
          <a:prstGeom prst="rect">
            <a:avLst/>
          </a:prstGeom>
          <a:noFill/>
        </p:spPr>
        <p:txBody>
          <a:bodyPr wrap="square" anchor="t">
            <a:spAutoFit/>
          </a:bodyPr>
          <a:lstStyle/>
          <a:p>
            <a:pPr algn="l"/>
            <a:r>
              <a:rPr sz="1400" b="1">
                <a:solidFill>
                  <a:srgbClr val="0F172A"/>
                </a:solidFill>
                <a:latin typeface="Segoe UI"/>
              </a:rPr>
              <a:t>Reviews are free; the insight is not</a:t>
            </a:r>
          </a:p>
        </p:txBody>
      </p:sp>
      <p:sp>
        <p:nvSpPr>
          <p:cNvPr id="10" name="TextBox 9"/>
          <p:cNvSpPr txBox="1"/>
          <p:nvPr/>
        </p:nvSpPr>
        <p:spPr>
          <a:xfrm>
            <a:off x="749808" y="1856231"/>
            <a:ext cx="5102352" cy="1463039"/>
          </a:xfrm>
          <a:prstGeom prst="rect">
            <a:avLst/>
          </a:prstGeom>
          <a:noFill/>
        </p:spPr>
        <p:txBody>
          <a:bodyPr wrap="square">
            <a:spAutoFit/>
          </a:bodyPr>
          <a:lstStyle/>
          <a:p>
            <a:pPr>
              <a:spcAft>
                <a:spcPts val="600"/>
              </a:spcAft>
            </a:pPr>
            <a:r>
              <a:rPr sz="1150">
                <a:solidFill>
                  <a:srgbClr val="1E293B"/>
                </a:solidFill>
                <a:latin typeface="Segoe UI"/>
              </a:rPr>
              <a:t>Commercial sentiment SaaS starts around $299/month (third-party estimate, unverified).</a:t>
            </a:r>
          </a:p>
          <a:p>
            <a:pPr>
              <a:spcAft>
                <a:spcPts val="600"/>
              </a:spcAft>
            </a:pPr>
            <a:r>
              <a:rPr sz="1150">
                <a:solidFill>
                  <a:srgbClr val="1E293B"/>
                </a:solidFill>
                <a:latin typeface="Segoe UI"/>
              </a:rPr>
              <a:t>Usage-billed managed APIs cost roughly $300/month at one million reviews — linear in text volume.</a:t>
            </a:r>
          </a:p>
        </p:txBody>
      </p:sp>
      <p:sp>
        <p:nvSpPr>
          <p:cNvPr id="11" name="Rounded Rectangle 10"/>
          <p:cNvSpPr/>
          <p:nvPr/>
        </p:nvSpPr>
        <p:spPr>
          <a:xfrm>
            <a:off x="6263640" y="1325880"/>
            <a:ext cx="5486400" cy="2103120"/>
          </a:xfrm>
          <a:prstGeom prst="round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325880"/>
            <a:ext cx="64008" cy="21031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7" y="1435607"/>
            <a:ext cx="5120640" cy="365760"/>
          </a:xfrm>
          <a:prstGeom prst="rect">
            <a:avLst/>
          </a:prstGeom>
          <a:noFill/>
        </p:spPr>
        <p:txBody>
          <a:bodyPr wrap="square" anchor="t">
            <a:spAutoFit/>
          </a:bodyPr>
          <a:lstStyle/>
          <a:p>
            <a:pPr algn="l"/>
            <a:r>
              <a:rPr sz="1400" b="1">
                <a:solidFill>
                  <a:srgbClr val="0F172A"/>
                </a:solidFill>
                <a:latin typeface="Segoe UI"/>
              </a:rPr>
              <a:t>DIY is out of reach</a:t>
            </a:r>
          </a:p>
        </p:txBody>
      </p:sp>
      <p:sp>
        <p:nvSpPr>
          <p:cNvPr id="14" name="TextBox 13"/>
          <p:cNvSpPr txBox="1"/>
          <p:nvPr/>
        </p:nvSpPr>
        <p:spPr>
          <a:xfrm>
            <a:off x="6464807" y="1856231"/>
            <a:ext cx="5102352" cy="1463039"/>
          </a:xfrm>
          <a:prstGeom prst="rect">
            <a:avLst/>
          </a:prstGeom>
          <a:noFill/>
        </p:spPr>
        <p:txBody>
          <a:bodyPr wrap="square">
            <a:spAutoFit/>
          </a:bodyPr>
          <a:lstStyle/>
          <a:p>
            <a:pPr>
              <a:spcAft>
                <a:spcPts val="600"/>
              </a:spcAft>
            </a:pPr>
            <a:r>
              <a:rPr sz="1150">
                <a:solidFill>
                  <a:srgbClr val="1E293B"/>
                </a:solidFill>
                <a:latin typeface="Segoe UI"/>
              </a:rPr>
              <a:t>Pipelines, databases and dashboards need engineers a shop owner does not have.</a:t>
            </a:r>
          </a:p>
          <a:p>
            <a:pPr>
              <a:spcAft>
                <a:spcPts val="600"/>
              </a:spcAft>
            </a:pPr>
            <a:r>
              <a:rPr sz="1150">
                <a:solidFill>
                  <a:srgbClr val="1E293B"/>
                </a:solidFill>
                <a:latin typeface="Segoe UI"/>
              </a:rPr>
              <a:t>Black-box scores cannot be audited, exported or reproduced — trust is exactly what is missing.</a:t>
            </a:r>
          </a:p>
        </p:txBody>
      </p:sp>
      <p:sp>
        <p:nvSpPr>
          <p:cNvPr id="15" name="Rounded Rectangle 14"/>
          <p:cNvSpPr/>
          <p:nvPr/>
        </p:nvSpPr>
        <p:spPr>
          <a:xfrm>
            <a:off x="548640" y="3657600"/>
            <a:ext cx="11201400" cy="1417320"/>
          </a:xfrm>
          <a:prstGeom prst="round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657600"/>
            <a:ext cx="64008" cy="141732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767328"/>
            <a:ext cx="10835640" cy="365760"/>
          </a:xfrm>
          <a:prstGeom prst="rect">
            <a:avLst/>
          </a:prstGeom>
          <a:noFill/>
        </p:spPr>
        <p:txBody>
          <a:bodyPr wrap="square" anchor="t">
            <a:spAutoFit/>
          </a:bodyPr>
          <a:lstStyle/>
          <a:p>
            <a:pPr algn="l"/>
            <a:r>
              <a:rPr sz="1400" b="1">
                <a:solidFill>
                  <a:srgbClr val="0F172A"/>
                </a:solidFill>
                <a:latin typeface="Segoe UI"/>
              </a:rPr>
              <a:t>Free tiers exist — but the boundary is unproven</a:t>
            </a:r>
          </a:p>
        </p:txBody>
      </p:sp>
      <p:sp>
        <p:nvSpPr>
          <p:cNvPr id="18" name="TextBox 17"/>
          <p:cNvSpPr txBox="1"/>
          <p:nvPr/>
        </p:nvSpPr>
        <p:spPr>
          <a:xfrm>
            <a:off x="749808" y="4187952"/>
            <a:ext cx="10817352" cy="777240"/>
          </a:xfrm>
          <a:prstGeom prst="rect">
            <a:avLst/>
          </a:prstGeom>
          <a:noFill/>
        </p:spPr>
        <p:txBody>
          <a:bodyPr wrap="square">
            <a:spAutoFit/>
          </a:bodyPr>
          <a:lstStyle/>
          <a:p>
            <a:pPr>
              <a:spcAft>
                <a:spcPts val="600"/>
              </a:spcAft>
            </a:pPr>
            <a:r>
              <a:rPr sz="1150">
                <a:solidFill>
                  <a:srgbClr val="1E293B"/>
                </a:solidFill>
                <a:latin typeface="Segoe UI"/>
              </a:rPr>
              <a:t>Cloud free tiers are generous, yet nobody shows with measured numbers what volume they really cover, or what latency a free-tier design actually pays.</a:t>
            </a:r>
          </a:p>
        </p:txBody>
      </p:sp>
      <p:sp>
        <p:nvSpPr>
          <p:cNvPr id="19" name="TextBox 18"/>
          <p:cNvSpPr txBox="1"/>
          <p:nvPr/>
        </p:nvSpPr>
        <p:spPr>
          <a:xfrm>
            <a:off x="548640" y="5349240"/>
            <a:ext cx="11201400" cy="548640"/>
          </a:xfrm>
          <a:prstGeom prst="rect">
            <a:avLst/>
          </a:prstGeom>
          <a:noFill/>
        </p:spPr>
        <p:txBody>
          <a:bodyPr wrap="square" anchor="t">
            <a:spAutoFit/>
          </a:bodyPr>
          <a:lstStyle/>
          <a:p>
            <a:pPr algn="l"/>
            <a:r>
              <a:rPr sz="1500" b="1">
                <a:solidFill>
                  <a:srgbClr val="2563EB"/>
                </a:solidFill>
                <a:latin typeface="Segoe UI"/>
              </a:rPr>
              <a:t>Our answer: an open, reproducible, free-tier serverless pipeline — and honest measurements of where it wins and where it bends.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685800"/>
          </a:xfrm>
          <a:prstGeom prst="rect">
            <a:avLst/>
          </a:prstGeom>
          <a:noFill/>
        </p:spPr>
        <p:txBody>
          <a:bodyPr wrap="square" anchor="t">
            <a:spAutoFit/>
          </a:bodyPr>
          <a:lstStyle/>
          <a:p>
            <a:pPr algn="l"/>
            <a:r>
              <a:rPr sz="2800" b="1">
                <a:solidFill>
                  <a:srgbClr val="0F172A"/>
                </a:solidFill>
                <a:latin typeface="Segoe UI"/>
              </a:rPr>
              <a:t>Objectives</a:t>
            </a:r>
          </a:p>
        </p:txBody>
      </p:sp>
      <p:sp>
        <p:nvSpPr>
          <p:cNvPr id="3" name="Rectangle 2"/>
          <p:cNvSpPr/>
          <p:nvPr/>
        </p:nvSpPr>
        <p:spPr>
          <a:xfrm>
            <a:off x="566928" y="969264"/>
            <a:ext cx="1371600"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48840" y="896112"/>
            <a:ext cx="9418320" cy="365760"/>
          </a:xfrm>
          <a:prstGeom prst="rect">
            <a:avLst/>
          </a:prstGeom>
          <a:noFill/>
        </p:spPr>
        <p:txBody>
          <a:bodyPr wrap="square" anchor="t">
            <a:spAutoFit/>
          </a:bodyPr>
          <a:lstStyle/>
          <a:p>
            <a:pPr algn="l"/>
            <a:r>
              <a:rPr sz="1300" b="0">
                <a:solidFill>
                  <a:srgbClr val="64748B"/>
                </a:solidFill>
                <a:latin typeface="Segoe UI"/>
              </a:rPr>
              <a:t>as approved in the proposal — plus measurement rigor</a:t>
            </a:r>
          </a:p>
        </p:txBody>
      </p:sp>
      <p:sp>
        <p:nvSpPr>
          <p:cNvPr id="5" name="TextBox 4"/>
          <p:cNvSpPr txBox="1"/>
          <p:nvPr/>
        </p:nvSpPr>
        <p:spPr>
          <a:xfrm>
            <a:off x="548640" y="6419088"/>
            <a:ext cx="7315200" cy="320040"/>
          </a:xfrm>
          <a:prstGeom prst="rect">
            <a:avLst/>
          </a:prstGeom>
          <a:noFill/>
        </p:spPr>
        <p:txBody>
          <a:bodyPr wrap="square" anchor="t">
            <a:spAutoFit/>
          </a:bodyPr>
          <a:lstStyle/>
          <a:p>
            <a:pPr algn="l"/>
            <a:r>
              <a:rPr sz="900" b="0">
                <a:solidFill>
                  <a:srgbClr val="64748B"/>
                </a:solidFill>
                <a:latin typeface="Segoe UI"/>
              </a:rPr>
              <a:t>Cloud-Based Customer Review Sentiment Analysis Dashboard  ·  26MS-DS037</a:t>
            </a:r>
          </a:p>
        </p:txBody>
      </p:sp>
      <p:sp>
        <p:nvSpPr>
          <p:cNvPr id="6" name="TextBox 5"/>
          <p:cNvSpPr txBox="1"/>
          <p:nvPr/>
        </p:nvSpPr>
        <p:spPr>
          <a:xfrm>
            <a:off x="10972800" y="6419088"/>
            <a:ext cx="822960" cy="320040"/>
          </a:xfrm>
          <a:prstGeom prst="rect">
            <a:avLst/>
          </a:prstGeom>
          <a:noFill/>
        </p:spPr>
        <p:txBody>
          <a:bodyPr wrap="square" anchor="t">
            <a:spAutoFit/>
          </a:bodyPr>
          <a:lstStyle/>
          <a:p>
            <a:pPr algn="r"/>
            <a:r>
              <a:rPr sz="900" b="0">
                <a:solidFill>
                  <a:srgbClr val="64748B"/>
                </a:solidFill>
                <a:latin typeface="Segoe UI"/>
              </a:rPr>
              <a:t>3 / 15</a:t>
            </a:r>
          </a:p>
        </p:txBody>
      </p:sp>
      <p:sp>
        <p:nvSpPr>
          <p:cNvPr id="7" name="TextBox 6"/>
          <p:cNvSpPr txBox="1"/>
          <p:nvPr/>
        </p:nvSpPr>
        <p:spPr>
          <a:xfrm>
            <a:off x="685800" y="1463040"/>
            <a:ext cx="10881360" cy="4754880"/>
          </a:xfrm>
          <a:prstGeom prst="rect">
            <a:avLst/>
          </a:prstGeom>
          <a:noFill/>
        </p:spPr>
        <p:txBody>
          <a:bodyPr wrap="square">
            <a:spAutoFit/>
          </a:bodyPr>
          <a:lstStyle/>
          <a:p>
            <a:pPr>
              <a:spcAft>
                <a:spcPts val="1400"/>
              </a:spcAft>
            </a:pPr>
            <a:r>
              <a:rPr sz="1600">
                <a:solidFill>
                  <a:srgbClr val="1E293B"/>
                </a:solidFill>
                <a:latin typeface="Segoe UI"/>
              </a:rPr>
              <a:t>1.  A serverless ingestion-to-dashboard pipeline that runs inside free-tier limits, with zero servers to administer.</a:t>
            </a:r>
          </a:p>
          <a:p>
            <a:pPr>
              <a:spcAft>
                <a:spcPts val="1400"/>
              </a:spcAft>
            </a:pPr>
            <a:r>
              <a:rPr sz="1600">
                <a:solidFill>
                  <a:srgbClr val="1E293B"/>
                </a:solidFill>
                <a:latin typeface="Segoe UI"/>
              </a:rPr>
              <a:t>2.  Pluggable three-class sentiment engines — VADER (default, fully offline), TextBlob, Hugging Face DistilBERT, Comprehend adapter.</a:t>
            </a:r>
          </a:p>
          <a:p>
            <a:pPr>
              <a:spcAft>
                <a:spcPts val="1400"/>
              </a:spcAft>
            </a:pPr>
            <a:r>
              <a:rPr sz="1600">
                <a:solidFill>
                  <a:srgbClr val="1E293B"/>
                </a:solidFill>
                <a:latin typeface="Segoe UI"/>
              </a:rPr>
              <a:t>3.  Storage abstraction: SQLite locally, Firestore (proposal) and DynamoDB (infrastructure-as-code) in the cloud — same handlers.</a:t>
            </a:r>
          </a:p>
          <a:p>
            <a:pPr>
              <a:spcAft>
                <a:spcPts val="1400"/>
              </a:spcAft>
            </a:pPr>
            <a:r>
              <a:rPr sz="1600">
                <a:solidFill>
                  <a:srgbClr val="1E293B"/>
                </a:solidFill>
                <a:latin typeface="Segoe UI"/>
              </a:rPr>
              <a:t>4.  An interactive dashboard: distribution, trends, keywords, filters, CSV/JSON upload, live single-review analysis.</a:t>
            </a:r>
          </a:p>
          <a:p>
            <a:pPr>
              <a:spcAft>
                <a:spcPts val="1400"/>
              </a:spcAft>
            </a:pPr>
            <a:r>
              <a:rPr sz="1600">
                <a:solidFill>
                  <a:srgbClr val="1E293B"/>
                </a:solidFill>
                <a:latin typeface="Segoe UI"/>
              </a:rPr>
              <a:t>5.  Quantify accuracy, latency, throughput and monthly cost with reproducible experiments (seed 42).</a:t>
            </a:r>
          </a:p>
          <a:p>
            <a:pPr>
              <a:spcAft>
                <a:spcPts val="1400"/>
              </a:spcAft>
            </a:pPr>
            <a:r>
              <a:rPr sz="1600">
                <a:solidFill>
                  <a:srgbClr val="1E293B"/>
                </a:solidFill>
                <a:latin typeface="Segoe UI"/>
              </a:rPr>
              <a:t>6.  Automated tests end-to-end, with every published number traceable to an executed run.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685800"/>
          </a:xfrm>
          <a:prstGeom prst="rect">
            <a:avLst/>
          </a:prstGeom>
          <a:noFill/>
        </p:spPr>
        <p:txBody>
          <a:bodyPr wrap="square" anchor="t">
            <a:spAutoFit/>
          </a:bodyPr>
          <a:lstStyle/>
          <a:p>
            <a:pPr algn="l"/>
            <a:r>
              <a:rPr sz="2800" b="1">
                <a:solidFill>
                  <a:srgbClr val="0F172A"/>
                </a:solidFill>
                <a:latin typeface="Segoe UI"/>
              </a:rPr>
              <a:t>System architecture</a:t>
            </a:r>
          </a:p>
        </p:txBody>
      </p:sp>
      <p:sp>
        <p:nvSpPr>
          <p:cNvPr id="3" name="Rectangle 2"/>
          <p:cNvSpPr/>
          <p:nvPr/>
        </p:nvSpPr>
        <p:spPr>
          <a:xfrm>
            <a:off x="566928" y="969264"/>
            <a:ext cx="1371600"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48840" y="896112"/>
            <a:ext cx="9418320" cy="365760"/>
          </a:xfrm>
          <a:prstGeom prst="rect">
            <a:avLst/>
          </a:prstGeom>
          <a:noFill/>
        </p:spPr>
        <p:txBody>
          <a:bodyPr wrap="square" anchor="t">
            <a:spAutoFit/>
          </a:bodyPr>
          <a:lstStyle/>
          <a:p>
            <a:pPr algn="l"/>
            <a:r>
              <a:rPr sz="1300" b="0">
                <a:solidFill>
                  <a:srgbClr val="64748B"/>
                </a:solidFill>
                <a:latin typeface="Segoe UI"/>
              </a:rPr>
              <a:t>one Lambda router · three pluggable layers</a:t>
            </a:r>
          </a:p>
        </p:txBody>
      </p:sp>
      <p:sp>
        <p:nvSpPr>
          <p:cNvPr id="5" name="TextBox 4"/>
          <p:cNvSpPr txBox="1"/>
          <p:nvPr/>
        </p:nvSpPr>
        <p:spPr>
          <a:xfrm>
            <a:off x="548640" y="6419088"/>
            <a:ext cx="7315200" cy="320040"/>
          </a:xfrm>
          <a:prstGeom prst="rect">
            <a:avLst/>
          </a:prstGeom>
          <a:noFill/>
        </p:spPr>
        <p:txBody>
          <a:bodyPr wrap="square" anchor="t">
            <a:spAutoFit/>
          </a:bodyPr>
          <a:lstStyle/>
          <a:p>
            <a:pPr algn="l"/>
            <a:r>
              <a:rPr sz="900" b="0">
                <a:solidFill>
                  <a:srgbClr val="64748B"/>
                </a:solidFill>
                <a:latin typeface="Segoe UI"/>
              </a:rPr>
              <a:t>Cloud-Based Customer Review Sentiment Analysis Dashboard  ·  26MS-DS037</a:t>
            </a:r>
          </a:p>
        </p:txBody>
      </p:sp>
      <p:sp>
        <p:nvSpPr>
          <p:cNvPr id="6" name="TextBox 5"/>
          <p:cNvSpPr txBox="1"/>
          <p:nvPr/>
        </p:nvSpPr>
        <p:spPr>
          <a:xfrm>
            <a:off x="10972800" y="6419088"/>
            <a:ext cx="822960" cy="320040"/>
          </a:xfrm>
          <a:prstGeom prst="rect">
            <a:avLst/>
          </a:prstGeom>
          <a:noFill/>
        </p:spPr>
        <p:txBody>
          <a:bodyPr wrap="square" anchor="t">
            <a:spAutoFit/>
          </a:bodyPr>
          <a:lstStyle/>
          <a:p>
            <a:pPr algn="r"/>
            <a:r>
              <a:rPr sz="900" b="0">
                <a:solidFill>
                  <a:srgbClr val="64748B"/>
                </a:solidFill>
                <a:latin typeface="Segoe UI"/>
              </a:rPr>
              <a:t>4 / 15</a:t>
            </a:r>
          </a:p>
        </p:txBody>
      </p:sp>
      <p:pic>
        <p:nvPicPr>
          <p:cNvPr id="7" name="Picture 6" descr="architecture_diagram.png"/>
          <p:cNvPicPr>
            <a:picLocks noChangeAspect="1"/>
          </p:cNvPicPr>
          <p:nvPr/>
        </p:nvPicPr>
        <p:blipFill>
          <a:blip r:embed="rId2"/>
          <a:stretch>
            <a:fillRect/>
          </a:stretch>
        </p:blipFill>
        <p:spPr>
          <a:xfrm>
            <a:off x="2098963" y="1234440"/>
            <a:ext cx="8055032" cy="46634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685800"/>
          </a:xfrm>
          <a:prstGeom prst="rect">
            <a:avLst/>
          </a:prstGeom>
          <a:noFill/>
        </p:spPr>
        <p:txBody>
          <a:bodyPr wrap="square" anchor="t">
            <a:spAutoFit/>
          </a:bodyPr>
          <a:lstStyle/>
          <a:p>
            <a:pPr algn="l"/>
            <a:r>
              <a:rPr sz="2800" b="1">
                <a:solidFill>
                  <a:srgbClr val="0F172A"/>
                </a:solidFill>
                <a:latin typeface="Segoe UI"/>
              </a:rPr>
              <a:t>Why serverless — and why the free tier holds</a:t>
            </a:r>
          </a:p>
        </p:txBody>
      </p:sp>
      <p:sp>
        <p:nvSpPr>
          <p:cNvPr id="3" name="Rectangle 2"/>
          <p:cNvSpPr/>
          <p:nvPr/>
        </p:nvSpPr>
        <p:spPr>
          <a:xfrm>
            <a:off x="566928" y="969264"/>
            <a:ext cx="1371600"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48840" y="896112"/>
            <a:ext cx="9418320" cy="365760"/>
          </a:xfrm>
          <a:prstGeom prst="rect">
            <a:avLst/>
          </a:prstGeom>
          <a:noFill/>
        </p:spPr>
        <p:txBody>
          <a:bodyPr wrap="square" anchor="t">
            <a:spAutoFit/>
          </a:bodyPr>
          <a:lstStyle/>
          <a:p>
            <a:pPr algn="l"/>
            <a:r>
              <a:rPr sz="1300" b="0">
                <a:solidFill>
                  <a:srgbClr val="64748B"/>
                </a:solidFill>
                <a:latin typeface="Segoe UI"/>
              </a:rPr>
              <a:t>economics measured, not assumed</a:t>
            </a:r>
          </a:p>
        </p:txBody>
      </p:sp>
      <p:sp>
        <p:nvSpPr>
          <p:cNvPr id="5" name="TextBox 4"/>
          <p:cNvSpPr txBox="1"/>
          <p:nvPr/>
        </p:nvSpPr>
        <p:spPr>
          <a:xfrm>
            <a:off x="548640" y="6419088"/>
            <a:ext cx="7315200" cy="320040"/>
          </a:xfrm>
          <a:prstGeom prst="rect">
            <a:avLst/>
          </a:prstGeom>
          <a:noFill/>
        </p:spPr>
        <p:txBody>
          <a:bodyPr wrap="square" anchor="t">
            <a:spAutoFit/>
          </a:bodyPr>
          <a:lstStyle/>
          <a:p>
            <a:pPr algn="l"/>
            <a:r>
              <a:rPr sz="900" b="0">
                <a:solidFill>
                  <a:srgbClr val="64748B"/>
                </a:solidFill>
                <a:latin typeface="Segoe UI"/>
              </a:rPr>
              <a:t>Cloud-Based Customer Review Sentiment Analysis Dashboard  ·  26MS-DS037</a:t>
            </a:r>
          </a:p>
        </p:txBody>
      </p:sp>
      <p:sp>
        <p:nvSpPr>
          <p:cNvPr id="6" name="TextBox 5"/>
          <p:cNvSpPr txBox="1"/>
          <p:nvPr/>
        </p:nvSpPr>
        <p:spPr>
          <a:xfrm>
            <a:off x="10972800" y="6419088"/>
            <a:ext cx="822960" cy="320040"/>
          </a:xfrm>
          <a:prstGeom prst="rect">
            <a:avLst/>
          </a:prstGeom>
          <a:noFill/>
        </p:spPr>
        <p:txBody>
          <a:bodyPr wrap="square" anchor="t">
            <a:spAutoFit/>
          </a:bodyPr>
          <a:lstStyle/>
          <a:p>
            <a:pPr algn="r"/>
            <a:r>
              <a:rPr sz="900" b="0">
                <a:solidFill>
                  <a:srgbClr val="64748B"/>
                </a:solidFill>
                <a:latin typeface="Segoe UI"/>
              </a:rPr>
              <a:t>5 / 15</a:t>
            </a:r>
          </a:p>
        </p:txBody>
      </p:sp>
      <p:sp>
        <p:nvSpPr>
          <p:cNvPr id="7" name="Rounded Rectangle 6"/>
          <p:cNvSpPr/>
          <p:nvPr/>
        </p:nvSpPr>
        <p:spPr>
          <a:xfrm>
            <a:off x="548640" y="1325880"/>
            <a:ext cx="5486400" cy="1965960"/>
          </a:xfrm>
          <a:prstGeom prst="round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64008" cy="19659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435607"/>
            <a:ext cx="5120640" cy="365760"/>
          </a:xfrm>
          <a:prstGeom prst="rect">
            <a:avLst/>
          </a:prstGeom>
          <a:noFill/>
        </p:spPr>
        <p:txBody>
          <a:bodyPr wrap="square" anchor="t">
            <a:spAutoFit/>
          </a:bodyPr>
          <a:lstStyle/>
          <a:p>
            <a:pPr algn="l"/>
            <a:r>
              <a:rPr sz="1400" b="1">
                <a:solidFill>
                  <a:srgbClr val="0F172A"/>
                </a:solidFill>
                <a:latin typeface="Segoe UI"/>
              </a:rPr>
              <a:t>FaaS economics</a:t>
            </a:r>
          </a:p>
        </p:txBody>
      </p:sp>
      <p:sp>
        <p:nvSpPr>
          <p:cNvPr id="10" name="TextBox 9"/>
          <p:cNvSpPr txBox="1"/>
          <p:nvPr/>
        </p:nvSpPr>
        <p:spPr>
          <a:xfrm>
            <a:off x="749808" y="1856231"/>
            <a:ext cx="5102352" cy="1325880"/>
          </a:xfrm>
          <a:prstGeom prst="rect">
            <a:avLst/>
          </a:prstGeom>
          <a:noFill/>
        </p:spPr>
        <p:txBody>
          <a:bodyPr wrap="square">
            <a:spAutoFit/>
          </a:bodyPr>
          <a:lstStyle/>
          <a:p>
            <a:pPr>
              <a:spcAft>
                <a:spcPts val="600"/>
              </a:spcAft>
            </a:pPr>
            <a:r>
              <a:rPr sz="1150">
                <a:solidFill>
                  <a:srgbClr val="1E293B"/>
                </a:solidFill>
                <a:latin typeface="Segoe UI"/>
              </a:rPr>
              <a:t>Billed per request and per millisecond — zero cost at zero traffic.</a:t>
            </a:r>
          </a:p>
          <a:p>
            <a:pPr>
              <a:spcAft>
                <a:spcPts val="600"/>
              </a:spcAft>
            </a:pPr>
            <a:r>
              <a:rPr sz="1150">
                <a:solidFill>
                  <a:srgbClr val="1E293B"/>
                </a:solidFill>
                <a:latin typeface="Segoe UI"/>
              </a:rPr>
              <a:t>Event-driven: HTTP requests and S3 uploads both trigger the same function; auto-scaling is free.</a:t>
            </a:r>
          </a:p>
          <a:p>
            <a:pPr>
              <a:spcAft>
                <a:spcPts val="600"/>
              </a:spcAft>
            </a:pPr>
            <a:r>
              <a:rPr sz="1150">
                <a:solidFill>
                  <a:srgbClr val="1E293B"/>
                </a:solidFill>
                <a:latin typeface="Segoe UI"/>
              </a:rPr>
              <a:t>No OS patching, no capacity planning — the scarce resource a small team actually has.</a:t>
            </a:r>
          </a:p>
        </p:txBody>
      </p:sp>
      <p:sp>
        <p:nvSpPr>
          <p:cNvPr id="11" name="Rounded Rectangle 10"/>
          <p:cNvSpPr/>
          <p:nvPr/>
        </p:nvSpPr>
        <p:spPr>
          <a:xfrm>
            <a:off x="6263640" y="1325880"/>
            <a:ext cx="5486400" cy="1965960"/>
          </a:xfrm>
          <a:prstGeom prst="round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325880"/>
            <a:ext cx="64008" cy="196596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7" y="1435607"/>
            <a:ext cx="5120640" cy="365760"/>
          </a:xfrm>
          <a:prstGeom prst="rect">
            <a:avLst/>
          </a:prstGeom>
          <a:noFill/>
        </p:spPr>
        <p:txBody>
          <a:bodyPr wrap="square" anchor="t">
            <a:spAutoFit/>
          </a:bodyPr>
          <a:lstStyle/>
          <a:p>
            <a:pPr algn="l"/>
            <a:r>
              <a:rPr sz="1400" b="1">
                <a:solidFill>
                  <a:srgbClr val="0F172A"/>
                </a:solidFill>
                <a:latin typeface="Segoe UI"/>
              </a:rPr>
              <a:t>AWS free-tier allowances used</a:t>
            </a:r>
          </a:p>
        </p:txBody>
      </p:sp>
      <p:sp>
        <p:nvSpPr>
          <p:cNvPr id="14" name="TextBox 13"/>
          <p:cNvSpPr txBox="1"/>
          <p:nvPr/>
        </p:nvSpPr>
        <p:spPr>
          <a:xfrm>
            <a:off x="6464807" y="1856231"/>
            <a:ext cx="5102352" cy="1325880"/>
          </a:xfrm>
          <a:prstGeom prst="rect">
            <a:avLst/>
          </a:prstGeom>
          <a:noFill/>
        </p:spPr>
        <p:txBody>
          <a:bodyPr wrap="square">
            <a:spAutoFit/>
          </a:bodyPr>
          <a:lstStyle/>
          <a:p>
            <a:pPr>
              <a:spcAft>
                <a:spcPts val="600"/>
              </a:spcAft>
            </a:pPr>
            <a:r>
              <a:rPr sz="1150">
                <a:solidFill>
                  <a:srgbClr val="1E293B"/>
                </a:solidFill>
                <a:latin typeface="Segoe UI"/>
              </a:rPr>
              <a:t>Lambda: 1M requests + 400k GB-seconds/month — always free.</a:t>
            </a:r>
          </a:p>
          <a:p>
            <a:pPr>
              <a:spcAft>
                <a:spcPts val="600"/>
              </a:spcAft>
            </a:pPr>
            <a:r>
              <a:rPr sz="1150">
                <a:solidFill>
                  <a:srgbClr val="1E293B"/>
                </a:solidFill>
                <a:latin typeface="Segoe UI"/>
              </a:rPr>
              <a:t>API Gateway 1M calls, S3 5 GB, CloudWatch 5 GB logs (12-month).</a:t>
            </a:r>
          </a:p>
          <a:p>
            <a:pPr>
              <a:spcAft>
                <a:spcPts val="600"/>
              </a:spcAft>
            </a:pPr>
            <a:r>
              <a:rPr sz="1150">
                <a:solidFill>
                  <a:srgbClr val="1E293B"/>
                </a:solidFill>
                <a:latin typeface="Segoe UI"/>
              </a:rPr>
              <a:t>DynamoDB: 25 GB storage + provisioned 25 WCU/RCU.</a:t>
            </a:r>
          </a:p>
        </p:txBody>
      </p:sp>
      <p:sp>
        <p:nvSpPr>
          <p:cNvPr id="15" name="Rounded Rectangle 14"/>
          <p:cNvSpPr/>
          <p:nvPr/>
        </p:nvSpPr>
        <p:spPr>
          <a:xfrm>
            <a:off x="548640" y="3611880"/>
            <a:ext cx="5486400" cy="1965960"/>
          </a:xfrm>
          <a:prstGeom prst="round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611880"/>
            <a:ext cx="64008" cy="196596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721608"/>
            <a:ext cx="5120640" cy="365760"/>
          </a:xfrm>
          <a:prstGeom prst="rect">
            <a:avLst/>
          </a:prstGeom>
          <a:noFill/>
        </p:spPr>
        <p:txBody>
          <a:bodyPr wrap="square" anchor="t">
            <a:spAutoFit/>
          </a:bodyPr>
          <a:lstStyle/>
          <a:p>
            <a:pPr algn="l"/>
            <a:r>
              <a:rPr sz="1400" b="1">
                <a:solidFill>
                  <a:srgbClr val="0F172A"/>
                </a:solidFill>
                <a:latin typeface="Segoe UI"/>
              </a:rPr>
              <a:t>Measured cold-start reality</a:t>
            </a:r>
          </a:p>
        </p:txBody>
      </p:sp>
      <p:sp>
        <p:nvSpPr>
          <p:cNvPr id="18" name="TextBox 17"/>
          <p:cNvSpPr txBox="1"/>
          <p:nvPr/>
        </p:nvSpPr>
        <p:spPr>
          <a:xfrm>
            <a:off x="749808" y="4142232"/>
            <a:ext cx="5102352" cy="1325880"/>
          </a:xfrm>
          <a:prstGeom prst="rect">
            <a:avLst/>
          </a:prstGeom>
          <a:noFill/>
        </p:spPr>
        <p:txBody>
          <a:bodyPr wrap="square">
            <a:spAutoFit/>
          </a:bodyPr>
          <a:lstStyle/>
          <a:p>
            <a:pPr>
              <a:spcAft>
                <a:spcPts val="600"/>
              </a:spcAft>
            </a:pPr>
            <a:r>
              <a:rPr sz="1150">
                <a:solidFill>
                  <a:srgbClr val="1E293B"/>
                </a:solidFill>
                <a:latin typeface="Segoe UI"/>
              </a:rPr>
              <a:t>Engine init: VADER 0.05 s vs DistilBERT 18.6 s (model load dominates).</a:t>
            </a:r>
          </a:p>
          <a:p>
            <a:pPr>
              <a:spcAft>
                <a:spcPts val="600"/>
              </a:spcAft>
            </a:pPr>
            <a:r>
              <a:rPr sz="1150">
                <a:solidFill>
                  <a:srgbClr val="1E293B"/>
                </a:solidFill>
                <a:latin typeface="Segoe UI"/>
              </a:rPr>
              <a:t>Warm: VADER 0.476 ms mean per review — DistilBERT 48 ms.</a:t>
            </a:r>
          </a:p>
          <a:p>
            <a:pPr>
              <a:spcAft>
                <a:spcPts val="600"/>
              </a:spcAft>
            </a:pPr>
            <a:r>
              <a:rPr sz="1150">
                <a:solidFill>
                  <a:srgbClr val="1E293B"/>
                </a:solidFill>
                <a:latin typeface="Segoe UI"/>
              </a:rPr>
              <a:t>→ VADER stays the default engine; FaaS design follows the measurement.</a:t>
            </a:r>
          </a:p>
        </p:txBody>
      </p:sp>
      <p:sp>
        <p:nvSpPr>
          <p:cNvPr id="19" name="Rounded Rectangle 18"/>
          <p:cNvSpPr/>
          <p:nvPr/>
        </p:nvSpPr>
        <p:spPr>
          <a:xfrm>
            <a:off x="6263640" y="3611880"/>
            <a:ext cx="5486400" cy="1965960"/>
          </a:xfrm>
          <a:prstGeom prst="round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3611880"/>
            <a:ext cx="64008" cy="19659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4807" y="3721608"/>
            <a:ext cx="5120640" cy="365760"/>
          </a:xfrm>
          <a:prstGeom prst="rect">
            <a:avLst/>
          </a:prstGeom>
          <a:noFill/>
        </p:spPr>
        <p:txBody>
          <a:bodyPr wrap="square" anchor="t">
            <a:spAutoFit/>
          </a:bodyPr>
          <a:lstStyle/>
          <a:p>
            <a:pPr algn="l"/>
            <a:r>
              <a:rPr sz="1400" b="1">
                <a:solidFill>
                  <a:srgbClr val="0F172A"/>
                </a:solidFill>
                <a:latin typeface="Segoe UI"/>
              </a:rPr>
              <a:t>Free tier is not $0 — and that is fine</a:t>
            </a:r>
          </a:p>
        </p:txBody>
      </p:sp>
      <p:sp>
        <p:nvSpPr>
          <p:cNvPr id="22" name="TextBox 21"/>
          <p:cNvSpPr txBox="1"/>
          <p:nvPr/>
        </p:nvSpPr>
        <p:spPr>
          <a:xfrm>
            <a:off x="6464807" y="4142232"/>
            <a:ext cx="5102352" cy="1325880"/>
          </a:xfrm>
          <a:prstGeom prst="rect">
            <a:avLst/>
          </a:prstGeom>
          <a:noFill/>
        </p:spPr>
        <p:txBody>
          <a:bodyPr wrap="square">
            <a:spAutoFit/>
          </a:bodyPr>
          <a:lstStyle/>
          <a:p>
            <a:pPr>
              <a:spcAft>
                <a:spcPts val="600"/>
              </a:spcAft>
            </a:pPr>
            <a:r>
              <a:rPr sz="1150">
                <a:solidFill>
                  <a:srgbClr val="1E293B"/>
                </a:solidFill>
                <a:latin typeface="Segoe UI"/>
              </a:rPr>
              <a:t>At 1M reviews/month: free tier $2.50, no-free-tier $3.35 (DynamoDB on-demand bills per request).</a:t>
            </a:r>
          </a:p>
          <a:p>
            <a:pPr>
              <a:spcAft>
                <a:spcPts val="600"/>
              </a:spcAft>
            </a:pPr>
            <a:r>
              <a:rPr sz="1150">
                <a:solidFill>
                  <a:srgbClr val="1E293B"/>
                </a:solidFill>
                <a:latin typeface="Segoe UI"/>
              </a:rPr>
              <a:t>Always-on t3.micro: $8.23/mo — ≈3,300× the serverless path at 1K reviews, plus a server to patch.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685800"/>
          </a:xfrm>
          <a:prstGeom prst="rect">
            <a:avLst/>
          </a:prstGeom>
          <a:noFill/>
        </p:spPr>
        <p:txBody>
          <a:bodyPr wrap="square" anchor="t">
            <a:spAutoFit/>
          </a:bodyPr>
          <a:lstStyle/>
          <a:p>
            <a:pPr algn="l"/>
            <a:r>
              <a:rPr sz="2800" b="1">
                <a:solidFill>
                  <a:srgbClr val="0F172A"/>
                </a:solidFill>
                <a:latin typeface="Segoe UI"/>
              </a:rPr>
              <a:t>Technology stack</a:t>
            </a:r>
          </a:p>
        </p:txBody>
      </p:sp>
      <p:sp>
        <p:nvSpPr>
          <p:cNvPr id="3" name="Rectangle 2"/>
          <p:cNvSpPr/>
          <p:nvPr/>
        </p:nvSpPr>
        <p:spPr>
          <a:xfrm>
            <a:off x="566928" y="969264"/>
            <a:ext cx="1371600"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48840" y="896112"/>
            <a:ext cx="9418320" cy="365760"/>
          </a:xfrm>
          <a:prstGeom prst="rect">
            <a:avLst/>
          </a:prstGeom>
          <a:noFill/>
        </p:spPr>
        <p:txBody>
          <a:bodyPr wrap="square" anchor="t">
            <a:spAutoFit/>
          </a:bodyPr>
          <a:lstStyle/>
          <a:p>
            <a:pPr algn="l"/>
            <a:r>
              <a:rPr sz="1300" b="0">
                <a:solidFill>
                  <a:srgbClr val="64748B"/>
                </a:solidFill>
                <a:latin typeface="Segoe UI"/>
              </a:rPr>
              <a:t>proposal targets vs what runs today</a:t>
            </a:r>
          </a:p>
        </p:txBody>
      </p:sp>
      <p:sp>
        <p:nvSpPr>
          <p:cNvPr id="5" name="TextBox 4"/>
          <p:cNvSpPr txBox="1"/>
          <p:nvPr/>
        </p:nvSpPr>
        <p:spPr>
          <a:xfrm>
            <a:off x="548640" y="6419088"/>
            <a:ext cx="7315200" cy="320040"/>
          </a:xfrm>
          <a:prstGeom prst="rect">
            <a:avLst/>
          </a:prstGeom>
          <a:noFill/>
        </p:spPr>
        <p:txBody>
          <a:bodyPr wrap="square" anchor="t">
            <a:spAutoFit/>
          </a:bodyPr>
          <a:lstStyle/>
          <a:p>
            <a:pPr algn="l"/>
            <a:r>
              <a:rPr sz="900" b="0">
                <a:solidFill>
                  <a:srgbClr val="64748B"/>
                </a:solidFill>
                <a:latin typeface="Segoe UI"/>
              </a:rPr>
              <a:t>Cloud-Based Customer Review Sentiment Analysis Dashboard  ·  26MS-DS037</a:t>
            </a:r>
          </a:p>
        </p:txBody>
      </p:sp>
      <p:sp>
        <p:nvSpPr>
          <p:cNvPr id="6" name="TextBox 5"/>
          <p:cNvSpPr txBox="1"/>
          <p:nvPr/>
        </p:nvSpPr>
        <p:spPr>
          <a:xfrm>
            <a:off x="10972800" y="6419088"/>
            <a:ext cx="822960" cy="320040"/>
          </a:xfrm>
          <a:prstGeom prst="rect">
            <a:avLst/>
          </a:prstGeom>
          <a:noFill/>
        </p:spPr>
        <p:txBody>
          <a:bodyPr wrap="square" anchor="t">
            <a:spAutoFit/>
          </a:bodyPr>
          <a:lstStyle/>
          <a:p>
            <a:pPr algn="r"/>
            <a:r>
              <a:rPr sz="900" b="0">
                <a:solidFill>
                  <a:srgbClr val="64748B"/>
                </a:solidFill>
                <a:latin typeface="Segoe UI"/>
              </a:rPr>
              <a:t>6 / 15</a:t>
            </a:r>
          </a:p>
        </p:txBody>
      </p:sp>
      <p:sp>
        <p:nvSpPr>
          <p:cNvPr id="7" name="Rounded Rectangle 6"/>
          <p:cNvSpPr/>
          <p:nvPr/>
        </p:nvSpPr>
        <p:spPr>
          <a:xfrm>
            <a:off x="548640" y="1325880"/>
            <a:ext cx="5486400" cy="3977639"/>
          </a:xfrm>
          <a:prstGeom prst="round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64008" cy="3977639"/>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435607"/>
            <a:ext cx="5120640" cy="365760"/>
          </a:xfrm>
          <a:prstGeom prst="rect">
            <a:avLst/>
          </a:prstGeom>
          <a:noFill/>
        </p:spPr>
        <p:txBody>
          <a:bodyPr wrap="square" anchor="t">
            <a:spAutoFit/>
          </a:bodyPr>
          <a:lstStyle/>
          <a:p>
            <a:pPr algn="l"/>
            <a:r>
              <a:rPr sz="1400" b="1">
                <a:solidFill>
                  <a:srgbClr val="0F172A"/>
                </a:solidFill>
                <a:latin typeface="Segoe UI"/>
              </a:rPr>
              <a:t>Proposal stack (design target)</a:t>
            </a:r>
          </a:p>
        </p:txBody>
      </p:sp>
      <p:sp>
        <p:nvSpPr>
          <p:cNvPr id="10" name="TextBox 9"/>
          <p:cNvSpPr txBox="1"/>
          <p:nvPr/>
        </p:nvSpPr>
        <p:spPr>
          <a:xfrm>
            <a:off x="749808" y="1856231"/>
            <a:ext cx="5102352" cy="3337559"/>
          </a:xfrm>
          <a:prstGeom prst="rect">
            <a:avLst/>
          </a:prstGeom>
          <a:noFill/>
        </p:spPr>
        <p:txBody>
          <a:bodyPr wrap="square">
            <a:spAutoFit/>
          </a:bodyPr>
          <a:lstStyle/>
          <a:p>
            <a:pPr>
              <a:spcAft>
                <a:spcPts val="600"/>
              </a:spcAft>
            </a:pPr>
            <a:r>
              <a:rPr sz="1150">
                <a:solidFill>
                  <a:srgbClr val="1E293B"/>
                </a:solidFill>
                <a:latin typeface="Segoe UI"/>
              </a:rPr>
              <a:t>Firebase Firestore (Spark plan) — cloud document database.</a:t>
            </a:r>
          </a:p>
          <a:p>
            <a:pPr>
              <a:spcAft>
                <a:spcPts val="600"/>
              </a:spcAft>
            </a:pPr>
            <a:r>
              <a:rPr sz="1150">
                <a:solidFill>
                  <a:srgbClr val="1E293B"/>
                </a:solidFill>
                <a:latin typeface="Segoe UI"/>
              </a:rPr>
              <a:t>Hugging Face Inference API — managed sentiment AI.</a:t>
            </a:r>
          </a:p>
          <a:p>
            <a:pPr>
              <a:spcAft>
                <a:spcPts val="600"/>
              </a:spcAft>
            </a:pPr>
            <a:r>
              <a:rPr sz="1150">
                <a:solidFill>
                  <a:srgbClr val="1E293B"/>
                </a:solidFill>
                <a:latin typeface="Segoe UI"/>
              </a:rPr>
              <a:t>Streamlit Community Cloud — free dashboard hosting.</a:t>
            </a:r>
          </a:p>
          <a:p>
            <a:pPr>
              <a:spcAft>
                <a:spcPts val="600"/>
              </a:spcAft>
            </a:pPr>
            <a:r>
              <a:rPr sz="1150">
                <a:solidFill>
                  <a:srgbClr val="1E293B"/>
                </a:solidFill>
                <a:latin typeface="Segoe UI"/>
              </a:rPr>
              <a:t/>
            </a:r>
          </a:p>
          <a:p>
            <a:pPr>
              <a:spcAft>
                <a:spcPts val="600"/>
              </a:spcAft>
            </a:pPr>
            <a:r>
              <a:rPr sz="1150">
                <a:solidFill>
                  <a:srgbClr val="1E293B"/>
                </a:solidFill>
                <a:latin typeface="Segoe UI"/>
              </a:rPr>
              <a:t>Status: engine + storage adapters written behind interfaces; deployment gated on credentials — nothing is pretended live.</a:t>
            </a:r>
          </a:p>
          <a:p>
            <a:pPr>
              <a:spcAft>
                <a:spcPts val="600"/>
              </a:spcAft>
            </a:pPr>
            <a:r>
              <a:rPr sz="1150">
                <a:solidFill>
                  <a:srgbClr val="1E293B"/>
                </a:solidFill>
                <a:latin typeface="Segoe UI"/>
              </a:rPr>
              <a:t>AWS roles stay optional: SAM infrastructure-as-code for Lambda, API Gateway, DynamoDB, S3, CloudWatch.</a:t>
            </a:r>
          </a:p>
        </p:txBody>
      </p:sp>
      <p:sp>
        <p:nvSpPr>
          <p:cNvPr id="11" name="Rounded Rectangle 10"/>
          <p:cNvSpPr/>
          <p:nvPr/>
        </p:nvSpPr>
        <p:spPr>
          <a:xfrm>
            <a:off x="6263640" y="1325880"/>
            <a:ext cx="5486400" cy="3977639"/>
          </a:xfrm>
          <a:prstGeom prst="round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325880"/>
            <a:ext cx="64008" cy="3977639"/>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7" y="1435607"/>
            <a:ext cx="5120640" cy="365760"/>
          </a:xfrm>
          <a:prstGeom prst="rect">
            <a:avLst/>
          </a:prstGeom>
          <a:noFill/>
        </p:spPr>
        <p:txBody>
          <a:bodyPr wrap="square" anchor="t">
            <a:spAutoFit/>
          </a:bodyPr>
          <a:lstStyle/>
          <a:p>
            <a:pPr algn="l"/>
            <a:r>
              <a:rPr sz="1400" b="1">
                <a:solidFill>
                  <a:srgbClr val="0F172A"/>
                </a:solidFill>
                <a:latin typeface="Segoe UI"/>
              </a:rPr>
              <a:t>Implemented and measured here</a:t>
            </a:r>
          </a:p>
        </p:txBody>
      </p:sp>
      <p:sp>
        <p:nvSpPr>
          <p:cNvPr id="14" name="TextBox 13"/>
          <p:cNvSpPr txBox="1"/>
          <p:nvPr/>
        </p:nvSpPr>
        <p:spPr>
          <a:xfrm>
            <a:off x="6464807" y="1856231"/>
            <a:ext cx="5102352" cy="3337559"/>
          </a:xfrm>
          <a:prstGeom prst="rect">
            <a:avLst/>
          </a:prstGeom>
          <a:noFill/>
        </p:spPr>
        <p:txBody>
          <a:bodyPr wrap="square">
            <a:spAutoFit/>
          </a:bodyPr>
          <a:lstStyle/>
          <a:p>
            <a:pPr>
              <a:spcAft>
                <a:spcPts val="600"/>
              </a:spcAft>
            </a:pPr>
            <a:r>
              <a:rPr sz="1150">
                <a:solidFill>
                  <a:srgbClr val="1E293B"/>
                </a:solidFill>
                <a:latin typeface="Segoe UI"/>
              </a:rPr>
              <a:t>Python 3.13 · one lambda_handler · FastAPI local parity server.</a:t>
            </a:r>
          </a:p>
          <a:p>
            <a:pPr>
              <a:spcAft>
                <a:spcPts val="600"/>
              </a:spcAft>
            </a:pPr>
            <a:r>
              <a:rPr sz="1150">
                <a:solidFill>
                  <a:srgbClr val="1E293B"/>
                </a:solidFill>
                <a:latin typeface="Segoe UI"/>
              </a:rPr>
              <a:t>Engines: VADER (default) · TextBlob · DistilBERT-SST2 · Comprehend adapter.</a:t>
            </a:r>
          </a:p>
          <a:p>
            <a:pPr>
              <a:spcAft>
                <a:spcPts val="600"/>
              </a:spcAft>
            </a:pPr>
            <a:r>
              <a:rPr sz="1150">
                <a:solidFill>
                  <a:srgbClr val="1E293B"/>
                </a:solidFill>
                <a:latin typeface="Segoe UI"/>
              </a:rPr>
              <a:t>Storage: SQLite (live) · DynamoDB + S3 + SAM template (validated, not deployed).</a:t>
            </a:r>
          </a:p>
          <a:p>
            <a:pPr>
              <a:spcAft>
                <a:spcPts val="600"/>
              </a:spcAft>
            </a:pPr>
            <a:r>
              <a:rPr sz="1150">
                <a:solidFill>
                  <a:srgbClr val="1E293B"/>
                </a:solidFill>
                <a:latin typeface="Segoe UI"/>
              </a:rPr>
              <a:t>Dashboard: HTML/JS + vendored Chart.js at /ui — works offline.</a:t>
            </a:r>
          </a:p>
          <a:p>
            <a:pPr>
              <a:spcAft>
                <a:spcPts val="600"/>
              </a:spcAft>
            </a:pPr>
            <a:r>
              <a:rPr sz="1150">
                <a:solidFill>
                  <a:srgbClr val="1E293B"/>
                </a:solidFill>
                <a:latin typeface="Segoe UI"/>
              </a:rPr>
              <a:t>Tests: 105 pytest (unit + HTTP e2e) in 13.89 s + Playwright browser E2E 9/9.</a:t>
            </a:r>
          </a:p>
          <a:p>
            <a:pPr>
              <a:spcAft>
                <a:spcPts val="600"/>
              </a:spcAft>
            </a:pPr>
            <a:r>
              <a:rPr sz="1150">
                <a:solidFill>
                  <a:srgbClr val="1E293B"/>
                </a:solidFill>
                <a:latin typeface="Segoe UI"/>
              </a:rPr>
              <a:t>Experiments: 5 runners, seed 42, raw outputs in results/.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685800"/>
          </a:xfrm>
          <a:prstGeom prst="rect">
            <a:avLst/>
          </a:prstGeom>
          <a:noFill/>
        </p:spPr>
        <p:txBody>
          <a:bodyPr wrap="square" anchor="t">
            <a:spAutoFit/>
          </a:bodyPr>
          <a:lstStyle/>
          <a:p>
            <a:pPr algn="l"/>
            <a:r>
              <a:rPr sz="2800" b="1">
                <a:solidFill>
                  <a:srgbClr val="0F172A"/>
                </a:solidFill>
                <a:latin typeface="Segoe UI"/>
              </a:rPr>
              <a:t>Pipeline walkthrough</a:t>
            </a:r>
          </a:p>
        </p:txBody>
      </p:sp>
      <p:sp>
        <p:nvSpPr>
          <p:cNvPr id="3" name="Rectangle 2"/>
          <p:cNvSpPr/>
          <p:nvPr/>
        </p:nvSpPr>
        <p:spPr>
          <a:xfrm>
            <a:off x="566928" y="969264"/>
            <a:ext cx="1371600"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48840" y="896112"/>
            <a:ext cx="9418320" cy="365760"/>
          </a:xfrm>
          <a:prstGeom prst="rect">
            <a:avLst/>
          </a:prstGeom>
          <a:noFill/>
        </p:spPr>
        <p:txBody>
          <a:bodyPr wrap="square" anchor="t">
            <a:spAutoFit/>
          </a:bodyPr>
          <a:lstStyle/>
          <a:p>
            <a:pPr algn="l"/>
            <a:r>
              <a:rPr sz="1300" b="0">
                <a:solidFill>
                  <a:srgbClr val="64748B"/>
                </a:solidFill>
                <a:latin typeface="Segoe UI"/>
              </a:rPr>
              <a:t>upload → classify → dashboard, ten stages</a:t>
            </a:r>
          </a:p>
        </p:txBody>
      </p:sp>
      <p:sp>
        <p:nvSpPr>
          <p:cNvPr id="5" name="TextBox 4"/>
          <p:cNvSpPr txBox="1"/>
          <p:nvPr/>
        </p:nvSpPr>
        <p:spPr>
          <a:xfrm>
            <a:off x="548640" y="6419088"/>
            <a:ext cx="7315200" cy="320040"/>
          </a:xfrm>
          <a:prstGeom prst="rect">
            <a:avLst/>
          </a:prstGeom>
          <a:noFill/>
        </p:spPr>
        <p:txBody>
          <a:bodyPr wrap="square" anchor="t">
            <a:spAutoFit/>
          </a:bodyPr>
          <a:lstStyle/>
          <a:p>
            <a:pPr algn="l"/>
            <a:r>
              <a:rPr sz="900" b="0">
                <a:solidFill>
                  <a:srgbClr val="64748B"/>
                </a:solidFill>
                <a:latin typeface="Segoe UI"/>
              </a:rPr>
              <a:t>Cloud-Based Customer Review Sentiment Analysis Dashboard  ·  26MS-DS037</a:t>
            </a:r>
          </a:p>
        </p:txBody>
      </p:sp>
      <p:sp>
        <p:nvSpPr>
          <p:cNvPr id="6" name="TextBox 5"/>
          <p:cNvSpPr txBox="1"/>
          <p:nvPr/>
        </p:nvSpPr>
        <p:spPr>
          <a:xfrm>
            <a:off x="10972800" y="6419088"/>
            <a:ext cx="822960" cy="320040"/>
          </a:xfrm>
          <a:prstGeom prst="rect">
            <a:avLst/>
          </a:prstGeom>
          <a:noFill/>
        </p:spPr>
        <p:txBody>
          <a:bodyPr wrap="square" anchor="t">
            <a:spAutoFit/>
          </a:bodyPr>
          <a:lstStyle/>
          <a:p>
            <a:pPr algn="r"/>
            <a:r>
              <a:rPr sz="900" b="0">
                <a:solidFill>
                  <a:srgbClr val="64748B"/>
                </a:solidFill>
                <a:latin typeface="Segoe UI"/>
              </a:rPr>
              <a:t>7 / 15</a:t>
            </a:r>
          </a:p>
        </p:txBody>
      </p:sp>
      <p:pic>
        <p:nvPicPr>
          <p:cNvPr id="7" name="Picture 6" descr="dataflow_diagram.png"/>
          <p:cNvPicPr>
            <a:picLocks noChangeAspect="1"/>
          </p:cNvPicPr>
          <p:nvPr/>
        </p:nvPicPr>
        <p:blipFill>
          <a:blip r:embed="rId2"/>
          <a:stretch>
            <a:fillRect/>
          </a:stretch>
        </p:blipFill>
        <p:spPr>
          <a:xfrm>
            <a:off x="1650898" y="1371600"/>
            <a:ext cx="8951163" cy="44805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685800"/>
          </a:xfrm>
          <a:prstGeom prst="rect">
            <a:avLst/>
          </a:prstGeom>
          <a:noFill/>
        </p:spPr>
        <p:txBody>
          <a:bodyPr wrap="square" anchor="t">
            <a:spAutoFit/>
          </a:bodyPr>
          <a:lstStyle/>
          <a:p>
            <a:pPr algn="l"/>
            <a:r>
              <a:rPr sz="2800" b="1">
                <a:solidFill>
                  <a:srgbClr val="0F172A"/>
                </a:solidFill>
                <a:latin typeface="Segoe UI"/>
              </a:rPr>
              <a:t>Dashboard — the product</a:t>
            </a:r>
          </a:p>
        </p:txBody>
      </p:sp>
      <p:sp>
        <p:nvSpPr>
          <p:cNvPr id="3" name="Rectangle 2"/>
          <p:cNvSpPr/>
          <p:nvPr/>
        </p:nvSpPr>
        <p:spPr>
          <a:xfrm>
            <a:off x="566928" y="969264"/>
            <a:ext cx="1371600"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48840" y="896112"/>
            <a:ext cx="9418320" cy="365760"/>
          </a:xfrm>
          <a:prstGeom prst="rect">
            <a:avLst/>
          </a:prstGeom>
          <a:noFill/>
        </p:spPr>
        <p:txBody>
          <a:bodyPr wrap="square" anchor="t">
            <a:spAutoFit/>
          </a:bodyPr>
          <a:lstStyle/>
          <a:p>
            <a:pPr algn="l"/>
            <a:r>
              <a:rPr sz="1300" b="0">
                <a:solidFill>
                  <a:srgbClr val="64748B"/>
                </a:solidFill>
                <a:latin typeface="Segoe UI"/>
              </a:rPr>
              <a:t>real capture, 1,214-review corpus</a:t>
            </a:r>
          </a:p>
        </p:txBody>
      </p:sp>
      <p:sp>
        <p:nvSpPr>
          <p:cNvPr id="5" name="TextBox 4"/>
          <p:cNvSpPr txBox="1"/>
          <p:nvPr/>
        </p:nvSpPr>
        <p:spPr>
          <a:xfrm>
            <a:off x="548640" y="6419088"/>
            <a:ext cx="7315200" cy="320040"/>
          </a:xfrm>
          <a:prstGeom prst="rect">
            <a:avLst/>
          </a:prstGeom>
          <a:noFill/>
        </p:spPr>
        <p:txBody>
          <a:bodyPr wrap="square" anchor="t">
            <a:spAutoFit/>
          </a:bodyPr>
          <a:lstStyle/>
          <a:p>
            <a:pPr algn="l"/>
            <a:r>
              <a:rPr sz="900" b="0">
                <a:solidFill>
                  <a:srgbClr val="64748B"/>
                </a:solidFill>
                <a:latin typeface="Segoe UI"/>
              </a:rPr>
              <a:t>Cloud-Based Customer Review Sentiment Analysis Dashboard  ·  26MS-DS037</a:t>
            </a:r>
          </a:p>
        </p:txBody>
      </p:sp>
      <p:sp>
        <p:nvSpPr>
          <p:cNvPr id="6" name="TextBox 5"/>
          <p:cNvSpPr txBox="1"/>
          <p:nvPr/>
        </p:nvSpPr>
        <p:spPr>
          <a:xfrm>
            <a:off x="10972800" y="6419088"/>
            <a:ext cx="822960" cy="320040"/>
          </a:xfrm>
          <a:prstGeom prst="rect">
            <a:avLst/>
          </a:prstGeom>
          <a:noFill/>
        </p:spPr>
        <p:txBody>
          <a:bodyPr wrap="square" anchor="t">
            <a:spAutoFit/>
          </a:bodyPr>
          <a:lstStyle/>
          <a:p>
            <a:pPr algn="r"/>
            <a:r>
              <a:rPr sz="900" b="0">
                <a:solidFill>
                  <a:srgbClr val="64748B"/>
                </a:solidFill>
                <a:latin typeface="Segoe UI"/>
              </a:rPr>
              <a:t>8 / 15</a:t>
            </a:r>
          </a:p>
        </p:txBody>
      </p:sp>
      <p:sp>
        <p:nvSpPr>
          <p:cNvPr id="7" name="TextBox 6"/>
          <p:cNvSpPr txBox="1"/>
          <p:nvPr/>
        </p:nvSpPr>
        <p:spPr>
          <a:xfrm>
            <a:off x="640080" y="1554480"/>
            <a:ext cx="4846320" cy="4206240"/>
          </a:xfrm>
          <a:prstGeom prst="rect">
            <a:avLst/>
          </a:prstGeom>
          <a:noFill/>
        </p:spPr>
        <p:txBody>
          <a:bodyPr wrap="square">
            <a:spAutoFit/>
          </a:bodyPr>
          <a:lstStyle/>
          <a:p>
            <a:pPr>
              <a:spcAft>
                <a:spcPts val="1600"/>
              </a:spcAft>
            </a:pPr>
            <a:r>
              <a:rPr sz="1450">
                <a:solidFill>
                  <a:srgbClr val="1E293B"/>
                </a:solidFill>
                <a:latin typeface="Segoe UI"/>
              </a:rPr>
              <a:t>KPI cards, sentiment doughnut, day/week/month trends and top keywords — all computed by the read APIs.</a:t>
            </a:r>
          </a:p>
          <a:p>
            <a:pPr>
              <a:spcAft>
                <a:spcPts val="1600"/>
              </a:spcAft>
            </a:pPr>
            <a:r>
              <a:rPr sz="1450">
                <a:solidFill>
                  <a:srgbClr val="1E293B"/>
                </a:solidFill>
                <a:latin typeface="Segoe UI"/>
              </a:rPr>
              <a:t>Light and dark themes, fully responsive; Chart.js is vendored, so the dashboard works offline.</a:t>
            </a:r>
          </a:p>
          <a:p>
            <a:pPr>
              <a:spcAft>
                <a:spcPts val="1600"/>
              </a:spcAft>
            </a:pPr>
            <a:r>
              <a:rPr sz="1450">
                <a:solidFill>
                  <a:srgbClr val="1E293B"/>
                </a:solidFill>
                <a:latin typeface="Segoe UI"/>
              </a:rPr>
              <a:t>Served at /ui — the same static bundle deploys unchanged to an S3 website bucket or Streamlit.</a:t>
            </a:r>
          </a:p>
        </p:txBody>
      </p:sp>
      <p:pic>
        <p:nvPicPr>
          <p:cNvPr id="8" name="Picture 7" descr="01_dashboard_light_full.png"/>
          <p:cNvPicPr>
            <a:picLocks noChangeAspect="1"/>
          </p:cNvPicPr>
          <p:nvPr/>
        </p:nvPicPr>
        <p:blipFill>
          <a:blip r:embed="rId2"/>
          <a:srcRect b="55000"/>
          <a:stretch>
            <a:fillRect/>
          </a:stretch>
        </p:blipFill>
        <p:spPr>
          <a:xfrm>
            <a:off x="5760720" y="1984805"/>
            <a:ext cx="3063240" cy="3528469"/>
          </a:xfrm>
          <a:prstGeom prst="rect">
            <a:avLst/>
          </a:prstGeom>
        </p:spPr>
      </p:pic>
      <p:pic>
        <p:nvPicPr>
          <p:cNvPr id="9" name="Picture 8" descr="02_dashboard_dark_full.png"/>
          <p:cNvPicPr>
            <a:picLocks noChangeAspect="1"/>
          </p:cNvPicPr>
          <p:nvPr/>
        </p:nvPicPr>
        <p:blipFill>
          <a:blip r:embed="rId3"/>
          <a:srcRect b="55000"/>
          <a:stretch>
            <a:fillRect/>
          </a:stretch>
        </p:blipFill>
        <p:spPr>
          <a:xfrm>
            <a:off x="9006840" y="1984805"/>
            <a:ext cx="3063240" cy="3528469"/>
          </a:xfrm>
          <a:prstGeom prst="rect">
            <a:avLst/>
          </a:prstGeom>
        </p:spPr>
      </p:pic>
      <p:sp>
        <p:nvSpPr>
          <p:cNvPr id="10" name="TextBox 9"/>
          <p:cNvSpPr txBox="1"/>
          <p:nvPr/>
        </p:nvSpPr>
        <p:spPr>
          <a:xfrm>
            <a:off x="5760720" y="6199632"/>
            <a:ext cx="6309360" cy="274320"/>
          </a:xfrm>
          <a:prstGeom prst="rect">
            <a:avLst/>
          </a:prstGeom>
          <a:noFill/>
        </p:spPr>
        <p:txBody>
          <a:bodyPr wrap="square" anchor="t">
            <a:spAutoFit/>
          </a:bodyPr>
          <a:lstStyle/>
          <a:p>
            <a:pPr algn="ctr"/>
            <a:r>
              <a:rPr sz="950" b="0">
                <a:solidFill>
                  <a:srgbClr val="64748B"/>
                </a:solidFill>
                <a:latin typeface="Segoe UI"/>
              </a:rPr>
              <a:t>Light theme (left) · dark theme (right) — top of the page; full-page captures in docs/screenshots/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685800"/>
          </a:xfrm>
          <a:prstGeom prst="rect">
            <a:avLst/>
          </a:prstGeom>
          <a:noFill/>
        </p:spPr>
        <p:txBody>
          <a:bodyPr wrap="square" anchor="t">
            <a:spAutoFit/>
          </a:bodyPr>
          <a:lstStyle/>
          <a:p>
            <a:pPr algn="l"/>
            <a:r>
              <a:rPr sz="2800" b="1">
                <a:solidFill>
                  <a:srgbClr val="0F172A"/>
                </a:solidFill>
                <a:latin typeface="Segoe UI"/>
              </a:rPr>
              <a:t>Dashboard — filters, upload, live analysis</a:t>
            </a:r>
          </a:p>
        </p:txBody>
      </p:sp>
      <p:sp>
        <p:nvSpPr>
          <p:cNvPr id="3" name="Rectangle 2"/>
          <p:cNvSpPr/>
          <p:nvPr/>
        </p:nvSpPr>
        <p:spPr>
          <a:xfrm>
            <a:off x="566928" y="969264"/>
            <a:ext cx="1371600"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48840" y="896112"/>
            <a:ext cx="9418320" cy="365760"/>
          </a:xfrm>
          <a:prstGeom prst="rect">
            <a:avLst/>
          </a:prstGeom>
          <a:noFill/>
        </p:spPr>
        <p:txBody>
          <a:bodyPr wrap="square" anchor="t">
            <a:spAutoFit/>
          </a:bodyPr>
          <a:lstStyle/>
          <a:p>
            <a:pPr algn="l"/>
            <a:r>
              <a:rPr sz="1300" b="0">
                <a:solidFill>
                  <a:srgbClr val="64748B"/>
                </a:solidFill>
                <a:latin typeface="Segoe UI"/>
              </a:rPr>
              <a:t>every flow verified by browser E2E (9/9 checks)</a:t>
            </a:r>
          </a:p>
        </p:txBody>
      </p:sp>
      <p:sp>
        <p:nvSpPr>
          <p:cNvPr id="5" name="TextBox 4"/>
          <p:cNvSpPr txBox="1"/>
          <p:nvPr/>
        </p:nvSpPr>
        <p:spPr>
          <a:xfrm>
            <a:off x="548640" y="6419088"/>
            <a:ext cx="7315200" cy="320040"/>
          </a:xfrm>
          <a:prstGeom prst="rect">
            <a:avLst/>
          </a:prstGeom>
          <a:noFill/>
        </p:spPr>
        <p:txBody>
          <a:bodyPr wrap="square" anchor="t">
            <a:spAutoFit/>
          </a:bodyPr>
          <a:lstStyle/>
          <a:p>
            <a:pPr algn="l"/>
            <a:r>
              <a:rPr sz="900" b="0">
                <a:solidFill>
                  <a:srgbClr val="64748B"/>
                </a:solidFill>
                <a:latin typeface="Segoe UI"/>
              </a:rPr>
              <a:t>Cloud-Based Customer Review Sentiment Analysis Dashboard  ·  26MS-DS037</a:t>
            </a:r>
          </a:p>
        </p:txBody>
      </p:sp>
      <p:sp>
        <p:nvSpPr>
          <p:cNvPr id="6" name="TextBox 5"/>
          <p:cNvSpPr txBox="1"/>
          <p:nvPr/>
        </p:nvSpPr>
        <p:spPr>
          <a:xfrm>
            <a:off x="10972800" y="6419088"/>
            <a:ext cx="822960" cy="320040"/>
          </a:xfrm>
          <a:prstGeom prst="rect">
            <a:avLst/>
          </a:prstGeom>
          <a:noFill/>
        </p:spPr>
        <p:txBody>
          <a:bodyPr wrap="square" anchor="t">
            <a:spAutoFit/>
          </a:bodyPr>
          <a:lstStyle/>
          <a:p>
            <a:pPr algn="r"/>
            <a:r>
              <a:rPr sz="900" b="0">
                <a:solidFill>
                  <a:srgbClr val="64748B"/>
                </a:solidFill>
                <a:latin typeface="Segoe UI"/>
              </a:rPr>
              <a:t>9 / 15</a:t>
            </a:r>
          </a:p>
        </p:txBody>
      </p:sp>
      <p:pic>
        <p:nvPicPr>
          <p:cNvPr id="7" name="Picture 6" descr="03_table_negative_filter.png"/>
          <p:cNvPicPr>
            <a:picLocks noChangeAspect="1"/>
          </p:cNvPicPr>
          <p:nvPr/>
        </p:nvPicPr>
        <p:blipFill>
          <a:blip r:embed="rId2"/>
          <a:stretch>
            <a:fillRect/>
          </a:stretch>
        </p:blipFill>
        <p:spPr>
          <a:xfrm>
            <a:off x="548640" y="1474032"/>
            <a:ext cx="4114800" cy="4275694"/>
          </a:xfrm>
          <a:prstGeom prst="rect">
            <a:avLst/>
          </a:prstGeom>
        </p:spPr>
      </p:pic>
      <p:sp>
        <p:nvSpPr>
          <p:cNvPr id="8" name="TextBox 7"/>
          <p:cNvSpPr txBox="1"/>
          <p:nvPr/>
        </p:nvSpPr>
        <p:spPr>
          <a:xfrm>
            <a:off x="548640" y="5897880"/>
            <a:ext cx="4114800" cy="274320"/>
          </a:xfrm>
          <a:prstGeom prst="rect">
            <a:avLst/>
          </a:prstGeom>
          <a:noFill/>
        </p:spPr>
        <p:txBody>
          <a:bodyPr wrap="square" anchor="t">
            <a:spAutoFit/>
          </a:bodyPr>
          <a:lstStyle/>
          <a:p>
            <a:pPr algn="ctr"/>
            <a:r>
              <a:rPr sz="1000" b="0">
                <a:solidFill>
                  <a:srgbClr val="64748B"/>
                </a:solidFill>
                <a:latin typeface="Segoe UI"/>
              </a:rPr>
              <a:t>Sentiment filter → charts + table</a:t>
            </a:r>
          </a:p>
        </p:txBody>
      </p:sp>
      <p:pic>
        <p:nvPicPr>
          <p:cNvPr id="9" name="Picture 8" descr="05_upload_result.png"/>
          <p:cNvPicPr>
            <a:picLocks noChangeAspect="1"/>
          </p:cNvPicPr>
          <p:nvPr/>
        </p:nvPicPr>
        <p:blipFill>
          <a:blip r:embed="rId3"/>
          <a:stretch>
            <a:fillRect/>
          </a:stretch>
        </p:blipFill>
        <p:spPr>
          <a:xfrm>
            <a:off x="4871140" y="1371600"/>
            <a:ext cx="2876438" cy="2148840"/>
          </a:xfrm>
          <a:prstGeom prst="rect">
            <a:avLst/>
          </a:prstGeom>
        </p:spPr>
      </p:pic>
      <p:pic>
        <p:nvPicPr>
          <p:cNvPr id="10" name="Picture 9" descr="04_analyze_live_result.png"/>
          <p:cNvPicPr>
            <a:picLocks noChangeAspect="1"/>
          </p:cNvPicPr>
          <p:nvPr/>
        </p:nvPicPr>
        <p:blipFill>
          <a:blip r:embed="rId4"/>
          <a:stretch>
            <a:fillRect/>
          </a:stretch>
        </p:blipFill>
        <p:spPr>
          <a:xfrm>
            <a:off x="4871140" y="3794760"/>
            <a:ext cx="2876438" cy="2148840"/>
          </a:xfrm>
          <a:prstGeom prst="rect">
            <a:avLst/>
          </a:prstGeom>
        </p:spPr>
      </p:pic>
      <p:sp>
        <p:nvSpPr>
          <p:cNvPr id="11" name="TextBox 10"/>
          <p:cNvSpPr txBox="1"/>
          <p:nvPr/>
        </p:nvSpPr>
        <p:spPr>
          <a:xfrm>
            <a:off x="4846320" y="5897880"/>
            <a:ext cx="2926080" cy="274320"/>
          </a:xfrm>
          <a:prstGeom prst="rect">
            <a:avLst/>
          </a:prstGeom>
          <a:noFill/>
        </p:spPr>
        <p:txBody>
          <a:bodyPr wrap="square" anchor="t">
            <a:spAutoFit/>
          </a:bodyPr>
          <a:lstStyle/>
          <a:p>
            <a:pPr algn="ctr"/>
            <a:r>
              <a:rPr sz="1000" b="0">
                <a:solidFill>
                  <a:srgbClr val="64748B"/>
                </a:solidFill>
                <a:latin typeface="Segoe UI"/>
              </a:rPr>
              <a:t>CSV upload report · live analysis</a:t>
            </a:r>
          </a:p>
        </p:txBody>
      </p:sp>
      <p:pic>
        <p:nvPicPr>
          <p:cNvPr id="12" name="Picture 11" descr="06_mobile_dark.png"/>
          <p:cNvPicPr>
            <a:picLocks noChangeAspect="1"/>
          </p:cNvPicPr>
          <p:nvPr/>
        </p:nvPicPr>
        <p:blipFill>
          <a:blip r:embed="rId5"/>
          <a:srcRect b="83000"/>
          <a:stretch>
            <a:fillRect/>
          </a:stretch>
        </p:blipFill>
        <p:spPr>
          <a:xfrm>
            <a:off x="8135709" y="1371600"/>
            <a:ext cx="1102180" cy="4480560"/>
          </a:xfrm>
          <a:prstGeom prst="rect">
            <a:avLst/>
          </a:prstGeom>
        </p:spPr>
      </p:pic>
      <p:sp>
        <p:nvSpPr>
          <p:cNvPr id="13" name="TextBox 12"/>
          <p:cNvSpPr txBox="1"/>
          <p:nvPr/>
        </p:nvSpPr>
        <p:spPr>
          <a:xfrm>
            <a:off x="9555480" y="1554480"/>
            <a:ext cx="2377440" cy="4389120"/>
          </a:xfrm>
          <a:prstGeom prst="rect">
            <a:avLst/>
          </a:prstGeom>
          <a:noFill/>
        </p:spPr>
        <p:txBody>
          <a:bodyPr wrap="square">
            <a:spAutoFit/>
          </a:bodyPr>
          <a:lstStyle/>
          <a:p>
            <a:pPr>
              <a:spcAft>
                <a:spcPts val="1200"/>
              </a:spcAft>
            </a:pPr>
            <a:r>
              <a:rPr sz="1150">
                <a:solidFill>
                  <a:srgbClr val="1E293B"/>
                </a:solidFill>
                <a:latin typeface="Segoe UI"/>
              </a:rPr>
              <a:t>Filters: sentiment, rating, date, keyword, business type — case-insensitive.</a:t>
            </a:r>
          </a:p>
          <a:p>
            <a:pPr>
              <a:spcAft>
                <a:spcPts val="1200"/>
              </a:spcAft>
            </a:pPr>
            <a:r>
              <a:rPr sz="1150">
                <a:solidFill>
                  <a:srgbClr val="1E293B"/>
                </a:solidFill>
                <a:latin typeface="Segoe UI"/>
              </a:rPr>
              <a:t>CSV/JSON upload with template download and a row-level ingestion report.</a:t>
            </a:r>
          </a:p>
          <a:p>
            <a:pPr>
              <a:spcAft>
                <a:spcPts val="1200"/>
              </a:spcAft>
            </a:pPr>
            <a:r>
              <a:rPr sz="1150">
                <a:solidFill>
                  <a:srgbClr val="1E293B"/>
                </a:solidFill>
                <a:latin typeface="Segoe UI"/>
              </a:rPr>
              <a:t>Live box: analyse one review instantly, per-class scores shown.</a:t>
            </a:r>
          </a:p>
          <a:p>
            <a:pPr>
              <a:spcAft>
                <a:spcPts val="1200"/>
              </a:spcAft>
            </a:pPr>
            <a:r>
              <a:rPr sz="1150">
                <a:solidFill>
                  <a:srgbClr val="1E293B"/>
                </a:solidFill>
                <a:latin typeface="Segoe UI"/>
              </a:rPr>
              <a:t>Mobile: zero horizontal overflow at 390 px (E2E-checked).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685800"/>
          </a:xfrm>
          <a:prstGeom prst="rect">
            <a:avLst/>
          </a:prstGeom>
          <a:noFill/>
        </p:spPr>
        <p:txBody>
          <a:bodyPr wrap="square" anchor="t">
            <a:spAutoFit/>
          </a:bodyPr>
          <a:lstStyle/>
          <a:p>
            <a:pPr algn="l"/>
            <a:r>
              <a:rPr sz="2800" b="1">
                <a:solidFill>
                  <a:srgbClr val="0F172A"/>
                </a:solidFill>
                <a:latin typeface="Segoe UI"/>
              </a:rPr>
              <a:t>Results — accuracy against star labels</a:t>
            </a:r>
          </a:p>
        </p:txBody>
      </p:sp>
      <p:sp>
        <p:nvSpPr>
          <p:cNvPr id="3" name="Rectangle 2"/>
          <p:cNvSpPr/>
          <p:nvPr/>
        </p:nvSpPr>
        <p:spPr>
          <a:xfrm>
            <a:off x="566928" y="969264"/>
            <a:ext cx="1371600"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48840" y="896112"/>
            <a:ext cx="9418320" cy="365760"/>
          </a:xfrm>
          <a:prstGeom prst="rect">
            <a:avLst/>
          </a:prstGeom>
          <a:noFill/>
        </p:spPr>
        <p:txBody>
          <a:bodyPr wrap="square" anchor="t">
            <a:spAutoFit/>
          </a:bodyPr>
          <a:lstStyle/>
          <a:p>
            <a:pPr algn="l"/>
            <a:r>
              <a:rPr sz="1300" b="0">
                <a:solidFill>
                  <a:srgbClr val="64748B"/>
                </a:solidFill>
                <a:latin typeface="Segoe UI"/>
              </a:rPr>
              <a:t>1,214 real reviews · ground truth: 1-2★ negative, 3★ neutral, 4-5★ positive</a:t>
            </a:r>
          </a:p>
        </p:txBody>
      </p:sp>
      <p:sp>
        <p:nvSpPr>
          <p:cNvPr id="5" name="TextBox 4"/>
          <p:cNvSpPr txBox="1"/>
          <p:nvPr/>
        </p:nvSpPr>
        <p:spPr>
          <a:xfrm>
            <a:off x="548640" y="6419088"/>
            <a:ext cx="7315200" cy="320040"/>
          </a:xfrm>
          <a:prstGeom prst="rect">
            <a:avLst/>
          </a:prstGeom>
          <a:noFill/>
        </p:spPr>
        <p:txBody>
          <a:bodyPr wrap="square" anchor="t">
            <a:spAutoFit/>
          </a:bodyPr>
          <a:lstStyle/>
          <a:p>
            <a:pPr algn="l"/>
            <a:r>
              <a:rPr sz="900" b="0">
                <a:solidFill>
                  <a:srgbClr val="64748B"/>
                </a:solidFill>
                <a:latin typeface="Segoe UI"/>
              </a:rPr>
              <a:t>Cloud-Based Customer Review Sentiment Analysis Dashboard  ·  26MS-DS037</a:t>
            </a:r>
          </a:p>
        </p:txBody>
      </p:sp>
      <p:sp>
        <p:nvSpPr>
          <p:cNvPr id="6" name="TextBox 5"/>
          <p:cNvSpPr txBox="1"/>
          <p:nvPr/>
        </p:nvSpPr>
        <p:spPr>
          <a:xfrm>
            <a:off x="10972800" y="6419088"/>
            <a:ext cx="822960" cy="320040"/>
          </a:xfrm>
          <a:prstGeom prst="rect">
            <a:avLst/>
          </a:prstGeom>
          <a:noFill/>
        </p:spPr>
        <p:txBody>
          <a:bodyPr wrap="square" anchor="t">
            <a:spAutoFit/>
          </a:bodyPr>
          <a:lstStyle/>
          <a:p>
            <a:pPr algn="r"/>
            <a:r>
              <a:rPr sz="900" b="0">
                <a:solidFill>
                  <a:srgbClr val="64748B"/>
                </a:solidFill>
                <a:latin typeface="Segoe UI"/>
              </a:rPr>
              <a:t>10 / 15</a:t>
            </a:r>
          </a:p>
        </p:txBody>
      </p:sp>
      <p:graphicFrame>
        <p:nvGraphicFramePr>
          <p:cNvPr id="7" name="Table 6"/>
          <p:cNvGraphicFramePr>
            <a:graphicFrameLocks noGrp="1"/>
          </p:cNvGraphicFramePr>
          <p:nvPr/>
        </p:nvGraphicFramePr>
        <p:xfrm>
          <a:off x="548640" y="1417320"/>
          <a:ext cx="5577840" cy="1371600"/>
        </p:xfrm>
        <a:graphic>
          <a:graphicData uri="http://schemas.openxmlformats.org/drawingml/2006/table">
            <a:tbl>
              <a:tblPr firstRow="1" bandRow="1">
                <a:tableStyleId>{5C22544A-7EE6-4342-B048-85BDC9FD1C3A}</a:tableStyleId>
              </a:tblPr>
              <a:tblGrid>
                <a:gridCol w="1115568"/>
                <a:gridCol w="1115568"/>
                <a:gridCol w="1115568"/>
                <a:gridCol w="1115568"/>
                <a:gridCol w="1115568"/>
              </a:tblGrid>
              <a:tr h="342900">
                <a:tc>
                  <a:txBody>
                    <a:bodyPr/>
                    <a:lstStyle/>
                    <a:p>
                      <a:r>
                        <a:rPr sz="1150" b="1">
                          <a:solidFill>
                            <a:srgbClr val="FFFFFF"/>
                          </a:solidFill>
                          <a:latin typeface="Segoe UI"/>
                        </a:rPr>
                        <a:t>Engine</a:t>
                      </a:r>
                    </a:p>
                  </a:txBody>
                  <a:tcPr>
                    <a:solidFill>
                      <a:srgbClr val="0F172A"/>
                    </a:solidFill>
                  </a:tcPr>
                </a:tc>
                <a:tc>
                  <a:txBody>
                    <a:bodyPr/>
                    <a:lstStyle/>
                    <a:p>
                      <a:r>
                        <a:rPr sz="1150" b="1">
                          <a:solidFill>
                            <a:srgbClr val="FFFFFF"/>
                          </a:solidFill>
                          <a:latin typeface="Segoe UI"/>
                        </a:rPr>
                        <a:t>Accuracy</a:t>
                      </a:r>
                    </a:p>
                  </a:txBody>
                  <a:tcPr>
                    <a:solidFill>
                      <a:srgbClr val="0F172A"/>
                    </a:solidFill>
                  </a:tcPr>
                </a:tc>
                <a:tc>
                  <a:txBody>
                    <a:bodyPr/>
                    <a:lstStyle/>
                    <a:p>
                      <a:r>
                        <a:rPr sz="1150" b="1">
                          <a:solidFill>
                            <a:srgbClr val="FFFFFF"/>
                          </a:solidFill>
                          <a:latin typeface="Segoe UI"/>
                        </a:rPr>
                        <a:t>Macro-F1</a:t>
                      </a:r>
                    </a:p>
                  </a:txBody>
                  <a:tcPr>
                    <a:solidFill>
                      <a:srgbClr val="0F172A"/>
                    </a:solidFill>
                  </a:tcPr>
                </a:tc>
                <a:tc>
                  <a:txBody>
                    <a:bodyPr/>
                    <a:lstStyle/>
                    <a:p>
                      <a:r>
                        <a:rPr sz="1150" b="1">
                          <a:solidFill>
                            <a:srgbClr val="FFFFFF"/>
                          </a:solidFill>
                          <a:latin typeface="Segoe UI"/>
                        </a:rPr>
                        <a:t>Neg. recall</a:t>
                      </a:r>
                    </a:p>
                  </a:txBody>
                  <a:tcPr>
                    <a:solidFill>
                      <a:srgbClr val="0F172A"/>
                    </a:solidFill>
                  </a:tcPr>
                </a:tc>
                <a:tc>
                  <a:txBody>
                    <a:bodyPr/>
                    <a:lstStyle/>
                    <a:p>
                      <a:r>
                        <a:rPr sz="1150" b="1">
                          <a:solidFill>
                            <a:srgbClr val="FFFFFF"/>
                          </a:solidFill>
                          <a:latin typeface="Segoe UI"/>
                        </a:rPr>
                        <a:t>ms/review</a:t>
                      </a:r>
                    </a:p>
                  </a:txBody>
                  <a:tcPr>
                    <a:solidFill>
                      <a:srgbClr val="0F172A"/>
                    </a:solidFill>
                  </a:tcPr>
                </a:tc>
              </a:tr>
              <a:tr h="342900">
                <a:tc>
                  <a:txBody>
                    <a:bodyPr/>
                    <a:lstStyle/>
                    <a:p>
                      <a:r>
                        <a:rPr sz="1150">
                          <a:solidFill>
                            <a:srgbClr val="1E293B"/>
                          </a:solidFill>
                          <a:latin typeface="Segoe UI"/>
                        </a:rPr>
                        <a:t>VADER (default)</a:t>
                      </a:r>
                    </a:p>
                  </a:txBody>
                  <a:tcPr>
                    <a:solidFill>
                      <a:srgbClr val="FFFFFF"/>
                    </a:solidFill>
                  </a:tcPr>
                </a:tc>
                <a:tc>
                  <a:txBody>
                    <a:bodyPr/>
                    <a:lstStyle/>
                    <a:p>
                      <a:r>
                        <a:rPr sz="1150">
                          <a:solidFill>
                            <a:srgbClr val="1E293B"/>
                          </a:solidFill>
                          <a:latin typeface="Segoe UI"/>
                        </a:rPr>
                        <a:t>0.9712</a:t>
                      </a:r>
                    </a:p>
                  </a:txBody>
                  <a:tcPr>
                    <a:solidFill>
                      <a:srgbClr val="FFFFFF"/>
                    </a:solidFill>
                  </a:tcPr>
                </a:tc>
                <a:tc>
                  <a:txBody>
                    <a:bodyPr/>
                    <a:lstStyle/>
                    <a:p>
                      <a:r>
                        <a:rPr sz="1150">
                          <a:solidFill>
                            <a:srgbClr val="1E293B"/>
                          </a:solidFill>
                          <a:latin typeface="Segoe UI"/>
                        </a:rPr>
                        <a:t>0.4757</a:t>
                      </a:r>
                    </a:p>
                  </a:txBody>
                  <a:tcPr>
                    <a:solidFill>
                      <a:srgbClr val="FFFFFF"/>
                    </a:solidFill>
                  </a:tcPr>
                </a:tc>
                <a:tc>
                  <a:txBody>
                    <a:bodyPr/>
                    <a:lstStyle/>
                    <a:p>
                      <a:r>
                        <a:rPr sz="1150">
                          <a:solidFill>
                            <a:srgbClr val="1E293B"/>
                          </a:solidFill>
                          <a:latin typeface="Segoe UI"/>
                        </a:rPr>
                        <a:t>0.3333</a:t>
                      </a:r>
                    </a:p>
                  </a:txBody>
                  <a:tcPr>
                    <a:solidFill>
                      <a:srgbClr val="FFFFFF"/>
                    </a:solidFill>
                  </a:tcPr>
                </a:tc>
                <a:tc>
                  <a:txBody>
                    <a:bodyPr/>
                    <a:lstStyle/>
                    <a:p>
                      <a:r>
                        <a:rPr sz="1150">
                          <a:solidFill>
                            <a:srgbClr val="1E293B"/>
                          </a:solidFill>
                          <a:latin typeface="Segoe UI"/>
                        </a:rPr>
                        <a:t>0.219</a:t>
                      </a:r>
                    </a:p>
                  </a:txBody>
                  <a:tcPr>
                    <a:solidFill>
                      <a:srgbClr val="FFFFFF"/>
                    </a:solidFill>
                  </a:tcPr>
                </a:tc>
              </a:tr>
              <a:tr h="342900">
                <a:tc>
                  <a:txBody>
                    <a:bodyPr/>
                    <a:lstStyle/>
                    <a:p>
                      <a:r>
                        <a:rPr sz="1150">
                          <a:solidFill>
                            <a:srgbClr val="1E293B"/>
                          </a:solidFill>
                          <a:latin typeface="Segoe UI"/>
                        </a:rPr>
                        <a:t>TextBlob</a:t>
                      </a:r>
                    </a:p>
                  </a:txBody>
                  <a:tcPr>
                    <a:solidFill>
                      <a:srgbClr val="F1F5F9"/>
                    </a:solidFill>
                  </a:tcPr>
                </a:tc>
                <a:tc>
                  <a:txBody>
                    <a:bodyPr/>
                    <a:lstStyle/>
                    <a:p>
                      <a:r>
                        <a:rPr sz="1150">
                          <a:solidFill>
                            <a:srgbClr val="1E293B"/>
                          </a:solidFill>
                          <a:latin typeface="Segoe UI"/>
                        </a:rPr>
                        <a:t>0.9662</a:t>
                      </a:r>
                    </a:p>
                  </a:txBody>
                  <a:tcPr>
                    <a:solidFill>
                      <a:srgbClr val="F1F5F9"/>
                    </a:solidFill>
                  </a:tcPr>
                </a:tc>
                <a:tc>
                  <a:txBody>
                    <a:bodyPr/>
                    <a:lstStyle/>
                    <a:p>
                      <a:r>
                        <a:rPr sz="1150">
                          <a:solidFill>
                            <a:srgbClr val="1E293B"/>
                          </a:solidFill>
                          <a:latin typeface="Segoe UI"/>
                        </a:rPr>
                        <a:t>0.4486</a:t>
                      </a:r>
                    </a:p>
                  </a:txBody>
                  <a:tcPr>
                    <a:solidFill>
                      <a:srgbClr val="F1F5F9"/>
                    </a:solidFill>
                  </a:tcPr>
                </a:tc>
                <a:tc>
                  <a:txBody>
                    <a:bodyPr/>
                    <a:lstStyle/>
                    <a:p>
                      <a:r>
                        <a:rPr sz="1150">
                          <a:solidFill>
                            <a:srgbClr val="1E293B"/>
                          </a:solidFill>
                          <a:latin typeface="Segoe UI"/>
                        </a:rPr>
                        <a:t>0.0833</a:t>
                      </a:r>
                    </a:p>
                  </a:txBody>
                  <a:tcPr>
                    <a:solidFill>
                      <a:srgbClr val="F1F5F9"/>
                    </a:solidFill>
                  </a:tcPr>
                </a:tc>
                <a:tc>
                  <a:txBody>
                    <a:bodyPr/>
                    <a:lstStyle/>
                    <a:p>
                      <a:r>
                        <a:rPr sz="1150">
                          <a:solidFill>
                            <a:srgbClr val="1E293B"/>
                          </a:solidFill>
                          <a:latin typeface="Segoe UI"/>
                        </a:rPr>
                        <a:t>0.639</a:t>
                      </a:r>
                    </a:p>
                  </a:txBody>
                  <a:tcPr>
                    <a:solidFill>
                      <a:srgbClr val="F1F5F9"/>
                    </a:solidFill>
                  </a:tcPr>
                </a:tc>
              </a:tr>
              <a:tr h="342900">
                <a:tc>
                  <a:txBody>
                    <a:bodyPr/>
                    <a:lstStyle/>
                    <a:p>
                      <a:r>
                        <a:rPr sz="1150">
                          <a:solidFill>
                            <a:srgbClr val="1E293B"/>
                          </a:solidFill>
                          <a:latin typeface="Segoe UI"/>
                        </a:rPr>
                        <a:t>HF DistilBERT</a:t>
                      </a:r>
                    </a:p>
                  </a:txBody>
                  <a:tcPr>
                    <a:solidFill>
                      <a:srgbClr val="FFFFFF"/>
                    </a:solidFill>
                  </a:tcPr>
                </a:tc>
                <a:tc>
                  <a:txBody>
                    <a:bodyPr/>
                    <a:lstStyle/>
                    <a:p>
                      <a:r>
                        <a:rPr sz="1150">
                          <a:solidFill>
                            <a:srgbClr val="1E293B"/>
                          </a:solidFill>
                          <a:latin typeface="Segoe UI"/>
                        </a:rPr>
                        <a:t>0.9596</a:t>
                      </a:r>
                    </a:p>
                  </a:txBody>
                  <a:tcPr>
                    <a:solidFill>
                      <a:srgbClr val="FFFFFF"/>
                    </a:solidFill>
                  </a:tcPr>
                </a:tc>
                <a:tc>
                  <a:txBody>
                    <a:bodyPr/>
                    <a:lstStyle/>
                    <a:p>
                      <a:r>
                        <a:rPr sz="1150">
                          <a:solidFill>
                            <a:srgbClr val="1E293B"/>
                          </a:solidFill>
                          <a:latin typeface="Segoe UI"/>
                        </a:rPr>
                        <a:t>0.4346</a:t>
                      </a:r>
                    </a:p>
                  </a:txBody>
                  <a:tcPr>
                    <a:solidFill>
                      <a:srgbClr val="FFFFFF"/>
                    </a:solidFill>
                  </a:tcPr>
                </a:tc>
                <a:tc>
                  <a:txBody>
                    <a:bodyPr/>
                    <a:lstStyle/>
                    <a:p>
                      <a:r>
                        <a:rPr sz="1150">
                          <a:solidFill>
                            <a:srgbClr val="1E293B"/>
                          </a:solidFill>
                          <a:latin typeface="Segoe UI"/>
                        </a:rPr>
                        <a:t>0.8333</a:t>
                      </a:r>
                    </a:p>
                  </a:txBody>
                  <a:tcPr>
                    <a:solidFill>
                      <a:srgbClr val="FFFFFF"/>
                    </a:solidFill>
                  </a:tcPr>
                </a:tc>
                <a:tc>
                  <a:txBody>
                    <a:bodyPr/>
                    <a:lstStyle/>
                    <a:p>
                      <a:r>
                        <a:rPr sz="1150">
                          <a:solidFill>
                            <a:srgbClr val="1E293B"/>
                          </a:solidFill>
                          <a:latin typeface="Segoe UI"/>
                        </a:rPr>
                        <a:t>49.828</a:t>
                      </a:r>
                    </a:p>
                  </a:txBody>
                  <a:tcPr>
                    <a:solidFill>
                      <a:srgbClr val="FFFFFF"/>
                    </a:solidFill>
                  </a:tcPr>
                </a:tc>
              </a:tr>
            </a:tbl>
          </a:graphicData>
        </a:graphic>
      </p:graphicFrame>
      <p:sp>
        <p:nvSpPr>
          <p:cNvPr id="8" name="TextBox 7"/>
          <p:cNvSpPr txBox="1"/>
          <p:nvPr/>
        </p:nvSpPr>
        <p:spPr>
          <a:xfrm>
            <a:off x="548640" y="3017520"/>
            <a:ext cx="5669280" cy="3108960"/>
          </a:xfrm>
          <a:prstGeom prst="rect">
            <a:avLst/>
          </a:prstGeom>
          <a:noFill/>
        </p:spPr>
        <p:txBody>
          <a:bodyPr wrap="square">
            <a:spAutoFit/>
          </a:bodyPr>
          <a:lstStyle/>
          <a:p>
            <a:pPr>
              <a:spcAft>
                <a:spcPts val="1200"/>
              </a:spcAft>
            </a:pPr>
            <a:r>
              <a:rPr sz="1300">
                <a:solidFill>
                  <a:srgbClr val="1E293B"/>
                </a:solidFill>
                <a:latin typeface="Segoe UI"/>
              </a:rPr>
              <a:t>Corpus is 98% positive (1,190/12/12) — an 'always positive' baseline already scores 0.98 accuracy, so accuracy alone proves nothing.</a:t>
            </a:r>
          </a:p>
          <a:p>
            <a:pPr>
              <a:spcAft>
                <a:spcPts val="1200"/>
              </a:spcAft>
            </a:pPr>
            <a:r>
              <a:rPr sz="1300">
                <a:solidFill>
                  <a:srgbClr val="1E293B"/>
                </a:solidFill>
                <a:latin typeface="Segoe UI"/>
              </a:rPr>
              <a:t>VADER is the best all-rounder: highest accuracy and macro-F1, and 228× faster per review than DistilBERT.</a:t>
            </a:r>
          </a:p>
          <a:p>
            <a:pPr>
              <a:spcAft>
                <a:spcPts val="1200"/>
              </a:spcAft>
            </a:pPr>
            <a:r>
              <a:rPr sz="1300">
                <a:solidFill>
                  <a:srgbClr val="1E293B"/>
                </a:solidFill>
                <a:latin typeface="Segoe UI"/>
              </a:rPr>
              <a:t>DistilBERT catches the most negatives (10 of 12) but never predicts neutral — SST-2 is binary by construction.</a:t>
            </a:r>
          </a:p>
          <a:p>
            <a:pPr>
              <a:spcAft>
                <a:spcPts val="1200"/>
              </a:spcAft>
            </a:pPr>
            <a:r>
              <a:rPr sz="1300">
                <a:solidFill>
                  <a:srgbClr val="1E293B"/>
                </a:solidFill>
                <a:latin typeface="Segoe UI"/>
              </a:rPr>
              <a:t>105 automated tests lock the pipeline and the metric definitions; Comprehend honestly excluded (no AWS credentials).</a:t>
            </a:r>
          </a:p>
        </p:txBody>
      </p:sp>
      <p:pic>
        <p:nvPicPr>
          <p:cNvPr id="9" name="Picture 8" descr="model_comparison_scores.png"/>
          <p:cNvPicPr>
            <a:picLocks noChangeAspect="1"/>
          </p:cNvPicPr>
          <p:nvPr/>
        </p:nvPicPr>
        <p:blipFill>
          <a:blip r:embed="rId2"/>
          <a:stretch>
            <a:fillRect/>
          </a:stretch>
        </p:blipFill>
        <p:spPr>
          <a:xfrm>
            <a:off x="6400800" y="2063942"/>
            <a:ext cx="5394960" cy="346163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685800"/>
          </a:xfrm>
          <a:prstGeom prst="rect">
            <a:avLst/>
          </a:prstGeom>
          <a:noFill/>
        </p:spPr>
        <p:txBody>
          <a:bodyPr wrap="square" anchor="t">
            <a:spAutoFit/>
          </a:bodyPr>
          <a:lstStyle/>
          <a:p>
            <a:pPr algn="l"/>
            <a:r>
              <a:rPr sz="2800" b="1">
                <a:solidFill>
                  <a:srgbClr val="0F172A"/>
                </a:solidFill>
                <a:latin typeface="Segoe UI"/>
              </a:rPr>
              <a:t>Performance — latency and throughput</a:t>
            </a:r>
          </a:p>
        </p:txBody>
      </p:sp>
      <p:sp>
        <p:nvSpPr>
          <p:cNvPr id="3" name="Rectangle 2"/>
          <p:cNvSpPr/>
          <p:nvPr/>
        </p:nvSpPr>
        <p:spPr>
          <a:xfrm>
            <a:off x="566928" y="969264"/>
            <a:ext cx="1371600"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48840" y="896112"/>
            <a:ext cx="9418320" cy="365760"/>
          </a:xfrm>
          <a:prstGeom prst="rect">
            <a:avLst/>
          </a:prstGeom>
          <a:noFill/>
        </p:spPr>
        <p:txBody>
          <a:bodyPr wrap="square" anchor="t">
            <a:spAutoFit/>
          </a:bodyPr>
          <a:lstStyle/>
          <a:p>
            <a:pPr algn="l"/>
            <a:r>
              <a:rPr sz="1300" b="0">
                <a:solidFill>
                  <a:srgbClr val="64748B"/>
                </a:solidFill>
                <a:latin typeface="Segoe UI"/>
              </a:rPr>
              <a:t>500 timed requests per engine · ingestion batches 100 → 10,000</a:t>
            </a:r>
          </a:p>
        </p:txBody>
      </p:sp>
      <p:sp>
        <p:nvSpPr>
          <p:cNvPr id="5" name="TextBox 4"/>
          <p:cNvSpPr txBox="1"/>
          <p:nvPr/>
        </p:nvSpPr>
        <p:spPr>
          <a:xfrm>
            <a:off x="548640" y="6419088"/>
            <a:ext cx="7315200" cy="320040"/>
          </a:xfrm>
          <a:prstGeom prst="rect">
            <a:avLst/>
          </a:prstGeom>
          <a:noFill/>
        </p:spPr>
        <p:txBody>
          <a:bodyPr wrap="square" anchor="t">
            <a:spAutoFit/>
          </a:bodyPr>
          <a:lstStyle/>
          <a:p>
            <a:pPr algn="l"/>
            <a:r>
              <a:rPr sz="900" b="0">
                <a:solidFill>
                  <a:srgbClr val="64748B"/>
                </a:solidFill>
                <a:latin typeface="Segoe UI"/>
              </a:rPr>
              <a:t>Cloud-Based Customer Review Sentiment Analysis Dashboard  ·  26MS-DS037</a:t>
            </a:r>
          </a:p>
        </p:txBody>
      </p:sp>
      <p:sp>
        <p:nvSpPr>
          <p:cNvPr id="6" name="TextBox 5"/>
          <p:cNvSpPr txBox="1"/>
          <p:nvPr/>
        </p:nvSpPr>
        <p:spPr>
          <a:xfrm>
            <a:off x="10972800" y="6419088"/>
            <a:ext cx="822960" cy="320040"/>
          </a:xfrm>
          <a:prstGeom prst="rect">
            <a:avLst/>
          </a:prstGeom>
          <a:noFill/>
        </p:spPr>
        <p:txBody>
          <a:bodyPr wrap="square" anchor="t">
            <a:spAutoFit/>
          </a:bodyPr>
          <a:lstStyle/>
          <a:p>
            <a:pPr algn="r"/>
            <a:r>
              <a:rPr sz="900" b="0">
                <a:solidFill>
                  <a:srgbClr val="64748B"/>
                </a:solidFill>
                <a:latin typeface="Segoe UI"/>
              </a:rPr>
              <a:t>11 / 15</a:t>
            </a:r>
          </a:p>
        </p:txBody>
      </p:sp>
      <p:pic>
        <p:nvPicPr>
          <p:cNvPr id="7" name="Picture 6" descr="latency_warm_percentiles.png"/>
          <p:cNvPicPr>
            <a:picLocks noChangeAspect="1"/>
          </p:cNvPicPr>
          <p:nvPr/>
        </p:nvPicPr>
        <p:blipFill>
          <a:blip r:embed="rId2"/>
          <a:stretch>
            <a:fillRect/>
          </a:stretch>
        </p:blipFill>
        <p:spPr>
          <a:xfrm>
            <a:off x="548640" y="1997107"/>
            <a:ext cx="5486400" cy="3503865"/>
          </a:xfrm>
          <a:prstGeom prst="rect">
            <a:avLst/>
          </a:prstGeom>
        </p:spPr>
      </p:pic>
      <p:sp>
        <p:nvSpPr>
          <p:cNvPr id="8" name="Rounded Rectangle 7"/>
          <p:cNvSpPr/>
          <p:nvPr/>
        </p:nvSpPr>
        <p:spPr>
          <a:xfrm>
            <a:off x="6309360" y="1371600"/>
            <a:ext cx="5440680" cy="2286000"/>
          </a:xfrm>
          <a:prstGeom prst="round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09360" y="1371600"/>
            <a:ext cx="64008" cy="2286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0528" y="1481328"/>
            <a:ext cx="5074920" cy="365760"/>
          </a:xfrm>
          <a:prstGeom prst="rect">
            <a:avLst/>
          </a:prstGeom>
          <a:noFill/>
        </p:spPr>
        <p:txBody>
          <a:bodyPr wrap="square" anchor="t">
            <a:spAutoFit/>
          </a:bodyPr>
          <a:lstStyle/>
          <a:p>
            <a:pPr algn="l"/>
            <a:r>
              <a:rPr sz="1400" b="1">
                <a:solidFill>
                  <a:srgbClr val="0F172A"/>
                </a:solidFill>
                <a:latin typeface="Segoe UI"/>
              </a:rPr>
              <a:t>Warm latency (mean / p99)</a:t>
            </a:r>
          </a:p>
        </p:txBody>
      </p:sp>
      <p:sp>
        <p:nvSpPr>
          <p:cNvPr id="11" name="TextBox 10"/>
          <p:cNvSpPr txBox="1"/>
          <p:nvPr/>
        </p:nvSpPr>
        <p:spPr>
          <a:xfrm>
            <a:off x="6510528" y="1901952"/>
            <a:ext cx="5056632" cy="1645920"/>
          </a:xfrm>
          <a:prstGeom prst="rect">
            <a:avLst/>
          </a:prstGeom>
          <a:noFill/>
        </p:spPr>
        <p:txBody>
          <a:bodyPr wrap="square">
            <a:spAutoFit/>
          </a:bodyPr>
          <a:lstStyle/>
          <a:p>
            <a:pPr>
              <a:spcAft>
                <a:spcPts val="600"/>
              </a:spcAft>
            </a:pPr>
            <a:r>
              <a:rPr sz="1150">
                <a:solidFill>
                  <a:srgbClr val="1E293B"/>
                </a:solidFill>
                <a:latin typeface="Segoe UI"/>
              </a:rPr>
              <a:t>VADER 0.476 / 1.065 ms — interactive-instant.</a:t>
            </a:r>
          </a:p>
          <a:p>
            <a:pPr>
              <a:spcAft>
                <a:spcPts val="600"/>
              </a:spcAft>
            </a:pPr>
            <a:r>
              <a:rPr sz="1150">
                <a:solidFill>
                  <a:srgbClr val="1E293B"/>
                </a:solidFill>
                <a:latin typeface="Segoe UI"/>
              </a:rPr>
              <a:t>TextBlob 1.229 / 2.565 ms.</a:t>
            </a:r>
          </a:p>
          <a:p>
            <a:pPr>
              <a:spcAft>
                <a:spcPts val="600"/>
              </a:spcAft>
            </a:pPr>
            <a:r>
              <a:rPr sz="1150">
                <a:solidFill>
                  <a:srgbClr val="1E293B"/>
                </a:solidFill>
                <a:latin typeface="Segoe UI"/>
              </a:rPr>
              <a:t>DistilBERT 48 / 92 ms (CPU, batch-of-1).</a:t>
            </a:r>
          </a:p>
        </p:txBody>
      </p:sp>
      <p:sp>
        <p:nvSpPr>
          <p:cNvPr id="12" name="Rounded Rectangle 11"/>
          <p:cNvSpPr/>
          <p:nvPr/>
        </p:nvSpPr>
        <p:spPr>
          <a:xfrm>
            <a:off x="6309360" y="3886200"/>
            <a:ext cx="5440680" cy="2240280"/>
          </a:xfrm>
          <a:prstGeom prst="round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3886200"/>
            <a:ext cx="64008" cy="22402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0528" y="3995928"/>
            <a:ext cx="5074920" cy="365760"/>
          </a:xfrm>
          <a:prstGeom prst="rect">
            <a:avLst/>
          </a:prstGeom>
          <a:noFill/>
        </p:spPr>
        <p:txBody>
          <a:bodyPr wrap="square" anchor="t">
            <a:spAutoFit/>
          </a:bodyPr>
          <a:lstStyle/>
          <a:p>
            <a:pPr algn="l"/>
            <a:r>
              <a:rPr sz="1400" b="1">
                <a:solidFill>
                  <a:srgbClr val="0F172A"/>
                </a:solidFill>
                <a:latin typeface="Segoe UI"/>
              </a:rPr>
              <a:t>Throughput &amp; memory (measured)</a:t>
            </a:r>
          </a:p>
        </p:txBody>
      </p:sp>
      <p:sp>
        <p:nvSpPr>
          <p:cNvPr id="15" name="TextBox 14"/>
          <p:cNvSpPr txBox="1"/>
          <p:nvPr/>
        </p:nvSpPr>
        <p:spPr>
          <a:xfrm>
            <a:off x="6510528" y="4416552"/>
            <a:ext cx="5056632" cy="1600200"/>
          </a:xfrm>
          <a:prstGeom prst="rect">
            <a:avLst/>
          </a:prstGeom>
          <a:noFill/>
        </p:spPr>
        <p:txBody>
          <a:bodyPr wrap="square">
            <a:spAutoFit/>
          </a:bodyPr>
          <a:lstStyle/>
          <a:p>
            <a:pPr>
              <a:spcAft>
                <a:spcPts val="600"/>
              </a:spcAft>
            </a:pPr>
            <a:r>
              <a:rPr sz="1150">
                <a:solidFill>
                  <a:srgbClr val="1E293B"/>
                </a:solidFill>
                <a:latin typeface="Segoe UI"/>
              </a:rPr>
              <a:t>Ingestion: 17,242 reviews/s at 10k rows — linear scaling.</a:t>
            </a:r>
          </a:p>
          <a:p>
            <a:pPr>
              <a:spcAft>
                <a:spcPts val="600"/>
              </a:spcAft>
            </a:pPr>
            <a:r>
              <a:rPr sz="1150">
                <a:solidFill>
                  <a:srgbClr val="1E293B"/>
                </a:solidFill>
                <a:latin typeface="Segoe UI"/>
              </a:rPr>
              <a:t>Peak RSS &lt; 150 MB (148 MB worst); heap grows ≈2 MB per 10k rows.</a:t>
            </a:r>
          </a:p>
          <a:p>
            <a:pPr>
              <a:spcAft>
                <a:spcPts val="600"/>
              </a:spcAft>
            </a:pPr>
            <a:r>
              <a:rPr sz="1150">
                <a:solidFill>
                  <a:srgbClr val="1E293B"/>
                </a:solidFill>
                <a:latin typeface="Segoe UI"/>
              </a:rPr>
              <a:t>Cold start (fresh process): VADER 3.4 s total vs DistilBERT 22.8 s — model loading dominates.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685800"/>
          </a:xfrm>
          <a:prstGeom prst="rect">
            <a:avLst/>
          </a:prstGeom>
          <a:noFill/>
        </p:spPr>
        <p:txBody>
          <a:bodyPr wrap="square" anchor="t">
            <a:spAutoFit/>
          </a:bodyPr>
          <a:lstStyle/>
          <a:p>
            <a:pPr algn="l"/>
            <a:r>
              <a:rPr sz="2800" b="1">
                <a:solidFill>
                  <a:srgbClr val="0F172A"/>
                </a:solidFill>
                <a:latin typeface="Segoe UI"/>
              </a:rPr>
              <a:t>Free-tier cost analysis</a:t>
            </a:r>
          </a:p>
        </p:txBody>
      </p:sp>
      <p:sp>
        <p:nvSpPr>
          <p:cNvPr id="3" name="Rectangle 2"/>
          <p:cNvSpPr/>
          <p:nvPr/>
        </p:nvSpPr>
        <p:spPr>
          <a:xfrm>
            <a:off x="566928" y="969264"/>
            <a:ext cx="1371600"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48840" y="896112"/>
            <a:ext cx="9418320" cy="365760"/>
          </a:xfrm>
          <a:prstGeom prst="rect">
            <a:avLst/>
          </a:prstGeom>
          <a:noFill/>
        </p:spPr>
        <p:txBody>
          <a:bodyPr wrap="square" anchor="t">
            <a:spAutoFit/>
          </a:bodyPr>
          <a:lstStyle/>
          <a:p>
            <a:pPr algn="l"/>
            <a:r>
              <a:rPr sz="1300" b="0">
                <a:solidFill>
                  <a:srgbClr val="64748B"/>
                </a:solidFill>
                <a:latin typeface="Segoe UI"/>
              </a:rPr>
              <a:t>measured inputs (7.47 ms/review, 732 B/review) · published prices, us-east-1, accessed 2026-10-15</a:t>
            </a:r>
          </a:p>
        </p:txBody>
      </p:sp>
      <p:sp>
        <p:nvSpPr>
          <p:cNvPr id="5" name="TextBox 4"/>
          <p:cNvSpPr txBox="1"/>
          <p:nvPr/>
        </p:nvSpPr>
        <p:spPr>
          <a:xfrm>
            <a:off x="548640" y="6419088"/>
            <a:ext cx="7315200" cy="320040"/>
          </a:xfrm>
          <a:prstGeom prst="rect">
            <a:avLst/>
          </a:prstGeom>
          <a:noFill/>
        </p:spPr>
        <p:txBody>
          <a:bodyPr wrap="square" anchor="t">
            <a:spAutoFit/>
          </a:bodyPr>
          <a:lstStyle/>
          <a:p>
            <a:pPr algn="l"/>
            <a:r>
              <a:rPr sz="900" b="0">
                <a:solidFill>
                  <a:srgbClr val="64748B"/>
                </a:solidFill>
                <a:latin typeface="Segoe UI"/>
              </a:rPr>
              <a:t>Cloud-Based Customer Review Sentiment Analysis Dashboard  ·  26MS-DS037</a:t>
            </a:r>
          </a:p>
        </p:txBody>
      </p:sp>
      <p:sp>
        <p:nvSpPr>
          <p:cNvPr id="6" name="TextBox 5"/>
          <p:cNvSpPr txBox="1"/>
          <p:nvPr/>
        </p:nvSpPr>
        <p:spPr>
          <a:xfrm>
            <a:off x="10972800" y="6419088"/>
            <a:ext cx="822960" cy="320040"/>
          </a:xfrm>
          <a:prstGeom prst="rect">
            <a:avLst/>
          </a:prstGeom>
          <a:noFill/>
        </p:spPr>
        <p:txBody>
          <a:bodyPr wrap="square" anchor="t">
            <a:spAutoFit/>
          </a:bodyPr>
          <a:lstStyle/>
          <a:p>
            <a:pPr algn="r"/>
            <a:r>
              <a:rPr sz="900" b="0">
                <a:solidFill>
                  <a:srgbClr val="64748B"/>
                </a:solidFill>
                <a:latin typeface="Segoe UI"/>
              </a:rPr>
              <a:t>12 / 15</a:t>
            </a:r>
          </a:p>
        </p:txBody>
      </p:sp>
      <p:pic>
        <p:nvPicPr>
          <p:cNvPr id="7" name="Picture 6" descr="cost_model.png"/>
          <p:cNvPicPr>
            <a:picLocks noChangeAspect="1"/>
          </p:cNvPicPr>
          <p:nvPr/>
        </p:nvPicPr>
        <p:blipFill>
          <a:blip r:embed="rId2"/>
          <a:stretch>
            <a:fillRect/>
          </a:stretch>
        </p:blipFill>
        <p:spPr>
          <a:xfrm>
            <a:off x="548640" y="2152206"/>
            <a:ext cx="6400800" cy="3193667"/>
          </a:xfrm>
          <a:prstGeom prst="rect">
            <a:avLst/>
          </a:prstGeom>
        </p:spPr>
      </p:pic>
      <p:graphicFrame>
        <p:nvGraphicFramePr>
          <p:cNvPr id="8" name="Table 7"/>
          <p:cNvGraphicFramePr>
            <a:graphicFrameLocks noGrp="1"/>
          </p:cNvGraphicFramePr>
          <p:nvPr/>
        </p:nvGraphicFramePr>
        <p:xfrm>
          <a:off x="7223760" y="1417320"/>
          <a:ext cx="4572000" cy="1371600"/>
        </p:xfrm>
        <a:graphic>
          <a:graphicData uri="http://schemas.openxmlformats.org/drawingml/2006/table">
            <a:tbl>
              <a:tblPr firstRow="1" bandRow="1">
                <a:tableStyleId>{5C22544A-7EE6-4342-B048-85BDC9FD1C3A}</a:tableStyleId>
              </a:tblPr>
              <a:tblGrid>
                <a:gridCol w="1143000"/>
                <a:gridCol w="1143000"/>
                <a:gridCol w="1143000"/>
                <a:gridCol w="1143000"/>
              </a:tblGrid>
              <a:tr h="342900">
                <a:tc>
                  <a:txBody>
                    <a:bodyPr/>
                    <a:lstStyle/>
                    <a:p>
                      <a:r>
                        <a:rPr sz="1150" b="1">
                          <a:solidFill>
                            <a:srgbClr val="FFFFFF"/>
                          </a:solidFill>
                          <a:latin typeface="Segoe UI"/>
                        </a:rPr>
                        <a:t>Reviews/mo</a:t>
                      </a:r>
                    </a:p>
                  </a:txBody>
                  <a:tcPr>
                    <a:solidFill>
                      <a:srgbClr val="0F172A"/>
                    </a:solidFill>
                  </a:tcPr>
                </a:tc>
                <a:tc>
                  <a:txBody>
                    <a:bodyPr/>
                    <a:lstStyle/>
                    <a:p>
                      <a:r>
                        <a:rPr sz="1150" b="1">
                          <a:solidFill>
                            <a:srgbClr val="FFFFFF"/>
                          </a:solidFill>
                          <a:latin typeface="Segoe UI"/>
                        </a:rPr>
                        <a:t>AWS free tier</a:t>
                      </a:r>
                    </a:p>
                  </a:txBody>
                  <a:tcPr>
                    <a:solidFill>
                      <a:srgbClr val="0F172A"/>
                    </a:solidFill>
                  </a:tcPr>
                </a:tc>
                <a:tc>
                  <a:txBody>
                    <a:bodyPr/>
                    <a:lstStyle/>
                    <a:p>
                      <a:r>
                        <a:rPr sz="1150" b="1">
                          <a:solidFill>
                            <a:srgbClr val="FFFFFF"/>
                          </a:solidFill>
                          <a:latin typeface="Segoe UI"/>
                        </a:rPr>
                        <a:t>t3.micro</a:t>
                      </a:r>
                    </a:p>
                  </a:txBody>
                  <a:tcPr>
                    <a:solidFill>
                      <a:srgbClr val="0F172A"/>
                    </a:solidFill>
                  </a:tcPr>
                </a:tc>
                <a:tc>
                  <a:txBody>
                    <a:bodyPr/>
                    <a:lstStyle/>
                    <a:p>
                      <a:r>
                        <a:rPr sz="1150" b="1">
                          <a:solidFill>
                            <a:srgbClr val="FFFFFF"/>
                          </a:solidFill>
                          <a:latin typeface="Segoe UI"/>
                        </a:rPr>
                        <a:t>Comprehend</a:t>
                      </a:r>
                    </a:p>
                  </a:txBody>
                  <a:tcPr>
                    <a:solidFill>
                      <a:srgbClr val="0F172A"/>
                    </a:solidFill>
                  </a:tcPr>
                </a:tc>
              </a:tr>
              <a:tr h="342900">
                <a:tc>
                  <a:txBody>
                    <a:bodyPr/>
                    <a:lstStyle/>
                    <a:p>
                      <a:r>
                        <a:rPr sz="1150">
                          <a:solidFill>
                            <a:srgbClr val="1E293B"/>
                          </a:solidFill>
                          <a:latin typeface="Segoe UI"/>
                        </a:rPr>
                        <a:t>1,000</a:t>
                      </a:r>
                    </a:p>
                  </a:txBody>
                  <a:tcPr>
                    <a:solidFill>
                      <a:srgbClr val="FFFFFF"/>
                    </a:solidFill>
                  </a:tcPr>
                </a:tc>
                <a:tc>
                  <a:txBody>
                    <a:bodyPr/>
                    <a:lstStyle/>
                    <a:p>
                      <a:r>
                        <a:rPr sz="1150">
                          <a:solidFill>
                            <a:srgbClr val="1E293B"/>
                          </a:solidFill>
                          <a:latin typeface="Segoe UI"/>
                        </a:rPr>
                        <a:t>$0.0025</a:t>
                      </a:r>
                    </a:p>
                  </a:txBody>
                  <a:tcPr>
                    <a:solidFill>
                      <a:srgbClr val="FFFFFF"/>
                    </a:solidFill>
                  </a:tcPr>
                </a:tc>
                <a:tc>
                  <a:txBody>
                    <a:bodyPr/>
                    <a:lstStyle/>
                    <a:p>
                      <a:r>
                        <a:rPr sz="1150">
                          <a:solidFill>
                            <a:srgbClr val="1E293B"/>
                          </a:solidFill>
                          <a:latin typeface="Segoe UI"/>
                        </a:rPr>
                        <a:t>$8.23</a:t>
                      </a:r>
                    </a:p>
                  </a:txBody>
                  <a:tcPr>
                    <a:solidFill>
                      <a:srgbClr val="FFFFFF"/>
                    </a:solidFill>
                  </a:tcPr>
                </a:tc>
                <a:tc>
                  <a:txBody>
                    <a:bodyPr/>
                    <a:lstStyle/>
                    <a:p>
                      <a:r>
                        <a:rPr sz="1150">
                          <a:solidFill>
                            <a:srgbClr val="1E293B"/>
                          </a:solidFill>
                          <a:latin typeface="Segoe UI"/>
                        </a:rPr>
                        <a:t>$0.30</a:t>
                      </a:r>
                    </a:p>
                  </a:txBody>
                  <a:tcPr>
                    <a:solidFill>
                      <a:srgbClr val="FFFFFF"/>
                    </a:solidFill>
                  </a:tcPr>
                </a:tc>
              </a:tr>
              <a:tr h="342900">
                <a:tc>
                  <a:txBody>
                    <a:bodyPr/>
                    <a:lstStyle/>
                    <a:p>
                      <a:r>
                        <a:rPr sz="1150">
                          <a:solidFill>
                            <a:srgbClr val="1E293B"/>
                          </a:solidFill>
                          <a:latin typeface="Segoe UI"/>
                        </a:rPr>
                        <a:t>100,000</a:t>
                      </a:r>
                    </a:p>
                  </a:txBody>
                  <a:tcPr>
                    <a:solidFill>
                      <a:srgbClr val="F1F5F9"/>
                    </a:solidFill>
                  </a:tcPr>
                </a:tc>
                <a:tc>
                  <a:txBody>
                    <a:bodyPr/>
                    <a:lstStyle/>
                    <a:p>
                      <a:r>
                        <a:rPr sz="1150">
                          <a:solidFill>
                            <a:srgbClr val="1E293B"/>
                          </a:solidFill>
                          <a:latin typeface="Segoe UI"/>
                        </a:rPr>
                        <a:t>$0.2500</a:t>
                      </a:r>
                    </a:p>
                  </a:txBody>
                  <a:tcPr>
                    <a:solidFill>
                      <a:srgbClr val="F1F5F9"/>
                    </a:solidFill>
                  </a:tcPr>
                </a:tc>
                <a:tc>
                  <a:txBody>
                    <a:bodyPr/>
                    <a:lstStyle/>
                    <a:p>
                      <a:r>
                        <a:rPr sz="1150">
                          <a:solidFill>
                            <a:srgbClr val="1E293B"/>
                          </a:solidFill>
                          <a:latin typeface="Segoe UI"/>
                        </a:rPr>
                        <a:t>$8.23</a:t>
                      </a:r>
                    </a:p>
                  </a:txBody>
                  <a:tcPr>
                    <a:solidFill>
                      <a:srgbClr val="F1F5F9"/>
                    </a:solidFill>
                  </a:tcPr>
                </a:tc>
                <a:tc>
                  <a:txBody>
                    <a:bodyPr/>
                    <a:lstStyle/>
                    <a:p>
                      <a:r>
                        <a:rPr sz="1150">
                          <a:solidFill>
                            <a:srgbClr val="1E293B"/>
                          </a:solidFill>
                          <a:latin typeface="Segoe UI"/>
                        </a:rPr>
                        <a:t>$30.05</a:t>
                      </a:r>
                    </a:p>
                  </a:txBody>
                  <a:tcPr>
                    <a:solidFill>
                      <a:srgbClr val="F1F5F9"/>
                    </a:solidFill>
                  </a:tcPr>
                </a:tc>
              </a:tr>
              <a:tr h="342900">
                <a:tc>
                  <a:txBody>
                    <a:bodyPr/>
                    <a:lstStyle/>
                    <a:p>
                      <a:r>
                        <a:rPr sz="1150">
                          <a:solidFill>
                            <a:srgbClr val="1E293B"/>
                          </a:solidFill>
                          <a:latin typeface="Segoe UI"/>
                        </a:rPr>
                        <a:t>1,000,000</a:t>
                      </a:r>
                    </a:p>
                  </a:txBody>
                  <a:tcPr>
                    <a:solidFill>
                      <a:srgbClr val="FFFFFF"/>
                    </a:solidFill>
                  </a:tcPr>
                </a:tc>
                <a:tc>
                  <a:txBody>
                    <a:bodyPr/>
                    <a:lstStyle/>
                    <a:p>
                      <a:r>
                        <a:rPr sz="1150">
                          <a:solidFill>
                            <a:srgbClr val="1E293B"/>
                          </a:solidFill>
                          <a:latin typeface="Segoe UI"/>
                        </a:rPr>
                        <a:t>$2.5000</a:t>
                      </a:r>
                    </a:p>
                  </a:txBody>
                  <a:tcPr>
                    <a:solidFill>
                      <a:srgbClr val="FFFFFF"/>
                    </a:solidFill>
                  </a:tcPr>
                </a:tc>
                <a:tc>
                  <a:txBody>
                    <a:bodyPr/>
                    <a:lstStyle/>
                    <a:p>
                      <a:r>
                        <a:rPr sz="1150">
                          <a:solidFill>
                            <a:srgbClr val="1E293B"/>
                          </a:solidFill>
                          <a:latin typeface="Segoe UI"/>
                        </a:rPr>
                        <a:t>$8.23</a:t>
                      </a:r>
                    </a:p>
                  </a:txBody>
                  <a:tcPr>
                    <a:solidFill>
                      <a:srgbClr val="FFFFFF"/>
                    </a:solidFill>
                  </a:tcPr>
                </a:tc>
                <a:tc>
                  <a:txBody>
                    <a:bodyPr/>
                    <a:lstStyle/>
                    <a:p>
                      <a:r>
                        <a:rPr sz="1150">
                          <a:solidFill>
                            <a:srgbClr val="1E293B"/>
                          </a:solidFill>
                          <a:latin typeface="Segoe UI"/>
                        </a:rPr>
                        <a:t>$300.49</a:t>
                      </a:r>
                    </a:p>
                  </a:txBody>
                  <a:tcPr>
                    <a:solidFill>
                      <a:srgbClr val="FFFFFF"/>
                    </a:solidFill>
                  </a:tcPr>
                </a:tc>
              </a:tr>
            </a:tbl>
          </a:graphicData>
        </a:graphic>
      </p:graphicFrame>
      <p:sp>
        <p:nvSpPr>
          <p:cNvPr id="9" name="TextBox 8"/>
          <p:cNvSpPr txBox="1"/>
          <p:nvPr/>
        </p:nvSpPr>
        <p:spPr>
          <a:xfrm>
            <a:off x="7223760" y="3063240"/>
            <a:ext cx="4572000" cy="3108960"/>
          </a:xfrm>
          <a:prstGeom prst="rect">
            <a:avLst/>
          </a:prstGeom>
          <a:noFill/>
        </p:spPr>
        <p:txBody>
          <a:bodyPr wrap="square">
            <a:spAutoFit/>
          </a:bodyPr>
          <a:lstStyle/>
          <a:p>
            <a:pPr>
              <a:spcAft>
                <a:spcPts val="900"/>
              </a:spcAft>
            </a:pPr>
            <a:r>
              <a:rPr sz="1150">
                <a:solidFill>
                  <a:srgbClr val="1E293B"/>
                </a:solidFill>
                <a:latin typeface="Segoe UI"/>
              </a:rPr>
              <a:t>Serverless wins at every modelled volume — pennies even with zero free-tier allowance ($3.35/mo at 1M reviews).</a:t>
            </a:r>
          </a:p>
          <a:p>
            <a:pPr>
              <a:spcAft>
                <a:spcPts val="900"/>
              </a:spcAft>
            </a:pPr>
            <a:r>
              <a:rPr sz="1150">
                <a:solidFill>
                  <a:srgbClr val="1E293B"/>
                </a:solidFill>
                <a:latin typeface="Segoe UI"/>
              </a:rPr>
              <a:t>Free tier ≠ $0: DynamoDB on-demand is outside the provisioned-only allowance → $2.50/mo at 1M.</a:t>
            </a:r>
          </a:p>
          <a:p>
            <a:pPr>
              <a:spcAft>
                <a:spcPts val="900"/>
              </a:spcAft>
            </a:pPr>
            <a:r>
              <a:rPr sz="1150">
                <a:solidFill>
                  <a:srgbClr val="1E293B"/>
                </a:solidFill>
                <a:latin typeface="Segoe UI"/>
              </a:rPr>
              <a:t>Managed sentiment APIs scale linearly with text: Comprehend $300.49/mo at 1M — 90× the pipeline.</a:t>
            </a:r>
          </a:p>
          <a:p>
            <a:pPr>
              <a:spcAft>
                <a:spcPts val="900"/>
              </a:spcAft>
            </a:pPr>
            <a:r>
              <a:rPr sz="1150">
                <a:solidFill>
                  <a:srgbClr val="1E293B"/>
                </a:solidFill>
                <a:latin typeface="Segoe UI"/>
              </a:rPr>
              <a:t>Flat-rate SaaS ≈ $299/mo (third-party, UNVERIFIED) only makes sense above ~1M reviews.</a:t>
            </a:r>
          </a:p>
          <a:p>
            <a:pPr>
              <a:spcAft>
                <a:spcPts val="900"/>
              </a:spcAft>
            </a:pPr>
            <a:r>
              <a:rPr sz="1150">
                <a:solidFill>
                  <a:srgbClr val="1E293B"/>
                </a:solidFill>
                <a:latin typeface="Segoe UI"/>
              </a:rPr>
              <a:t>Every price carries a source URL in results/cost_sources.json — nothing invented.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685800"/>
          </a:xfrm>
          <a:prstGeom prst="rect">
            <a:avLst/>
          </a:prstGeom>
          <a:noFill/>
        </p:spPr>
        <p:txBody>
          <a:bodyPr wrap="square" anchor="t">
            <a:spAutoFit/>
          </a:bodyPr>
          <a:lstStyle/>
          <a:p>
            <a:pPr algn="l"/>
            <a:r>
              <a:rPr sz="2800" b="1">
                <a:solidFill>
                  <a:srgbClr val="0F172A"/>
                </a:solidFill>
                <a:latin typeface="Segoe UI"/>
              </a:rPr>
              <a:t>Challenges &amp; lessons learned</a:t>
            </a:r>
          </a:p>
        </p:txBody>
      </p:sp>
      <p:sp>
        <p:nvSpPr>
          <p:cNvPr id="3" name="Rectangle 2"/>
          <p:cNvSpPr/>
          <p:nvPr/>
        </p:nvSpPr>
        <p:spPr>
          <a:xfrm>
            <a:off x="566928" y="969264"/>
            <a:ext cx="1371600"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48840" y="896112"/>
            <a:ext cx="9418320" cy="365760"/>
          </a:xfrm>
          <a:prstGeom prst="rect">
            <a:avLst/>
          </a:prstGeom>
          <a:noFill/>
        </p:spPr>
        <p:txBody>
          <a:bodyPr wrap="square" anchor="t">
            <a:spAutoFit/>
          </a:bodyPr>
          <a:lstStyle/>
          <a:p>
            <a:pPr algn="l"/>
            <a:r>
              <a:rPr sz="1300" b="0">
                <a:solidFill>
                  <a:srgbClr val="64748B"/>
                </a:solidFill>
                <a:latin typeface="Segoe UI"/>
              </a:rPr>
              <a:t>the honest part of the talk</a:t>
            </a:r>
          </a:p>
        </p:txBody>
      </p:sp>
      <p:sp>
        <p:nvSpPr>
          <p:cNvPr id="5" name="TextBox 4"/>
          <p:cNvSpPr txBox="1"/>
          <p:nvPr/>
        </p:nvSpPr>
        <p:spPr>
          <a:xfrm>
            <a:off x="548640" y="6419088"/>
            <a:ext cx="7315200" cy="320040"/>
          </a:xfrm>
          <a:prstGeom prst="rect">
            <a:avLst/>
          </a:prstGeom>
          <a:noFill/>
        </p:spPr>
        <p:txBody>
          <a:bodyPr wrap="square" anchor="t">
            <a:spAutoFit/>
          </a:bodyPr>
          <a:lstStyle/>
          <a:p>
            <a:pPr algn="l"/>
            <a:r>
              <a:rPr sz="900" b="0">
                <a:solidFill>
                  <a:srgbClr val="64748B"/>
                </a:solidFill>
                <a:latin typeface="Segoe UI"/>
              </a:rPr>
              <a:t>Cloud-Based Customer Review Sentiment Analysis Dashboard  ·  26MS-DS037</a:t>
            </a:r>
          </a:p>
        </p:txBody>
      </p:sp>
      <p:sp>
        <p:nvSpPr>
          <p:cNvPr id="6" name="TextBox 5"/>
          <p:cNvSpPr txBox="1"/>
          <p:nvPr/>
        </p:nvSpPr>
        <p:spPr>
          <a:xfrm>
            <a:off x="10972800" y="6419088"/>
            <a:ext cx="822960" cy="320040"/>
          </a:xfrm>
          <a:prstGeom prst="rect">
            <a:avLst/>
          </a:prstGeom>
          <a:noFill/>
        </p:spPr>
        <p:txBody>
          <a:bodyPr wrap="square" anchor="t">
            <a:spAutoFit/>
          </a:bodyPr>
          <a:lstStyle/>
          <a:p>
            <a:pPr algn="r"/>
            <a:r>
              <a:rPr sz="900" b="0">
                <a:solidFill>
                  <a:srgbClr val="64748B"/>
                </a:solidFill>
                <a:latin typeface="Segoe UI"/>
              </a:rPr>
              <a:t>13 / 15</a:t>
            </a:r>
          </a:p>
        </p:txBody>
      </p:sp>
      <p:sp>
        <p:nvSpPr>
          <p:cNvPr id="7" name="TextBox 6"/>
          <p:cNvSpPr txBox="1"/>
          <p:nvPr/>
        </p:nvSpPr>
        <p:spPr>
          <a:xfrm>
            <a:off x="685800" y="1463040"/>
            <a:ext cx="10881360" cy="4846320"/>
          </a:xfrm>
          <a:prstGeom prst="rect">
            <a:avLst/>
          </a:prstGeom>
          <a:noFill/>
        </p:spPr>
        <p:txBody>
          <a:bodyPr wrap="square">
            <a:spAutoFit/>
          </a:bodyPr>
          <a:lstStyle/>
          <a:p>
            <a:pPr>
              <a:spcAft>
                <a:spcPts val="1600"/>
              </a:spcAft>
            </a:pPr>
            <a:r>
              <a:rPr sz="1500">
                <a:solidFill>
                  <a:srgbClr val="1E293B"/>
                </a:solidFill>
                <a:latin typeface="Segoe UI"/>
              </a:rPr>
              <a:t>No cloud credentials on the development machine → every cloud component (Firestore, DynamoDB, Comprehend, HF API) was written behind interfaces and verified through real local equivalents — nothing was ever pretended live.</a:t>
            </a:r>
          </a:p>
          <a:p>
            <a:pPr>
              <a:spcAft>
                <a:spcPts val="1600"/>
              </a:spcAft>
            </a:pPr>
            <a:r>
              <a:rPr sz="1500">
                <a:solidFill>
                  <a:srgbClr val="1E293B"/>
                </a:solidFill>
                <a:latin typeface="Segoe UI"/>
              </a:rPr>
              <a:t>Severe label skew (1,190/12/12) → accuracy alone is misleading; macro-F1, per-class recall and confusion matrices are the reported evidence.</a:t>
            </a:r>
          </a:p>
          <a:p>
            <a:pPr>
              <a:spcAft>
                <a:spcPts val="1600"/>
              </a:spcAft>
            </a:pPr>
            <a:r>
              <a:rPr sz="1500">
                <a:solidFill>
                  <a:srgbClr val="1E293B"/>
                </a:solidFill>
                <a:latin typeface="Segoe UI"/>
              </a:rPr>
              <a:t>Binary transformer vs the required 3-class output → neutral-band mapping; the ablation showed TextBlob collapses at band 0.5 (accuracy 0.6013), justifying the 0.15 default.</a:t>
            </a:r>
          </a:p>
          <a:p>
            <a:pPr>
              <a:spcAft>
                <a:spcPts val="1600"/>
              </a:spcAft>
            </a:pPr>
            <a:r>
              <a:rPr sz="1500">
                <a:solidFill>
                  <a:srgbClr val="1E293B"/>
                </a:solidFill>
                <a:latin typeface="Segoe UI"/>
              </a:rPr>
              <a:t>Windows quirks: PowerShell mangling inline JSON, SQLite temp-dir locks in one experiment, Hugging Face cache symlink fallback.</a:t>
            </a:r>
          </a:p>
          <a:p>
            <a:pPr>
              <a:spcAft>
                <a:spcPts val="1600"/>
              </a:spcAft>
            </a:pPr>
            <a:r>
              <a:rPr sz="1500">
                <a:solidFill>
                  <a:srgbClr val="1E293B"/>
                </a:solidFill>
                <a:latin typeface="Segoe UI"/>
              </a:rPr>
              <a:t>Writing 105 tests surfaced four real bugs — silent limit=0 default, case-sensitive sentiment filter, missing storage default, and a per-1M pricing bug that produced a $2,606/month nonsense estimate — all fixed and regression-locked.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64240" cy="685800"/>
          </a:xfrm>
          <a:prstGeom prst="rect">
            <a:avLst/>
          </a:prstGeom>
          <a:noFill/>
        </p:spPr>
        <p:txBody>
          <a:bodyPr wrap="square" anchor="t">
            <a:spAutoFit/>
          </a:bodyPr>
          <a:lstStyle/>
          <a:p>
            <a:pPr algn="l"/>
            <a:r>
              <a:rPr sz="2800" b="1">
                <a:solidFill>
                  <a:srgbClr val="0F172A"/>
                </a:solidFill>
                <a:latin typeface="Segoe UI"/>
              </a:rPr>
              <a:t>Conclusion &amp; future work</a:t>
            </a:r>
          </a:p>
        </p:txBody>
      </p:sp>
      <p:sp>
        <p:nvSpPr>
          <p:cNvPr id="3" name="Rectangle 2"/>
          <p:cNvSpPr/>
          <p:nvPr/>
        </p:nvSpPr>
        <p:spPr>
          <a:xfrm>
            <a:off x="566928" y="969264"/>
            <a:ext cx="1371600"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19088"/>
            <a:ext cx="7315200" cy="320040"/>
          </a:xfrm>
          <a:prstGeom prst="rect">
            <a:avLst/>
          </a:prstGeom>
          <a:noFill/>
        </p:spPr>
        <p:txBody>
          <a:bodyPr wrap="square" anchor="t">
            <a:spAutoFit/>
          </a:bodyPr>
          <a:lstStyle/>
          <a:p>
            <a:pPr algn="l"/>
            <a:r>
              <a:rPr sz="900" b="0">
                <a:solidFill>
                  <a:srgbClr val="64748B"/>
                </a:solidFill>
                <a:latin typeface="Segoe UI"/>
              </a:rPr>
              <a:t>Cloud-Based Customer Review Sentiment Analysis Dashboard  ·  26MS-DS037</a:t>
            </a:r>
          </a:p>
        </p:txBody>
      </p:sp>
      <p:sp>
        <p:nvSpPr>
          <p:cNvPr id="5" name="TextBox 4"/>
          <p:cNvSpPr txBox="1"/>
          <p:nvPr/>
        </p:nvSpPr>
        <p:spPr>
          <a:xfrm>
            <a:off x="10972800" y="6419088"/>
            <a:ext cx="822960" cy="320040"/>
          </a:xfrm>
          <a:prstGeom prst="rect">
            <a:avLst/>
          </a:prstGeom>
          <a:noFill/>
        </p:spPr>
        <p:txBody>
          <a:bodyPr wrap="square" anchor="t">
            <a:spAutoFit/>
          </a:bodyPr>
          <a:lstStyle/>
          <a:p>
            <a:pPr algn="r"/>
            <a:r>
              <a:rPr sz="900" b="0">
                <a:solidFill>
                  <a:srgbClr val="64748B"/>
                </a:solidFill>
                <a:latin typeface="Segoe UI"/>
              </a:rPr>
              <a:t>14 / 15</a:t>
            </a:r>
          </a:p>
        </p:txBody>
      </p:sp>
      <p:sp>
        <p:nvSpPr>
          <p:cNvPr id="6" name="Rounded Rectangle 5"/>
          <p:cNvSpPr/>
          <p:nvPr/>
        </p:nvSpPr>
        <p:spPr>
          <a:xfrm>
            <a:off x="548640" y="1325880"/>
            <a:ext cx="5486400" cy="3977639"/>
          </a:xfrm>
          <a:prstGeom prst="round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325880"/>
            <a:ext cx="64008" cy="3977639"/>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435607"/>
            <a:ext cx="5120640" cy="365760"/>
          </a:xfrm>
          <a:prstGeom prst="rect">
            <a:avLst/>
          </a:prstGeom>
          <a:noFill/>
        </p:spPr>
        <p:txBody>
          <a:bodyPr wrap="square" anchor="t">
            <a:spAutoFit/>
          </a:bodyPr>
          <a:lstStyle/>
          <a:p>
            <a:pPr algn="l"/>
            <a:r>
              <a:rPr sz="1400" b="1">
                <a:solidFill>
                  <a:srgbClr val="0F172A"/>
                </a:solidFill>
                <a:latin typeface="Segoe UI"/>
              </a:rPr>
              <a:t>Delivered — and measured</a:t>
            </a:r>
          </a:p>
        </p:txBody>
      </p:sp>
      <p:sp>
        <p:nvSpPr>
          <p:cNvPr id="9" name="TextBox 8"/>
          <p:cNvSpPr txBox="1"/>
          <p:nvPr/>
        </p:nvSpPr>
        <p:spPr>
          <a:xfrm>
            <a:off x="749808" y="1856231"/>
            <a:ext cx="5102352" cy="3337559"/>
          </a:xfrm>
          <a:prstGeom prst="rect">
            <a:avLst/>
          </a:prstGeom>
          <a:noFill/>
        </p:spPr>
        <p:txBody>
          <a:bodyPr wrap="square">
            <a:spAutoFit/>
          </a:bodyPr>
          <a:lstStyle/>
          <a:p>
            <a:pPr>
              <a:spcAft>
                <a:spcPts val="600"/>
              </a:spcAft>
            </a:pPr>
            <a:r>
              <a:rPr sz="1150">
                <a:solidFill>
                  <a:srgbClr val="1E293B"/>
                </a:solidFill>
                <a:latin typeface="Segoe UI"/>
              </a:rPr>
              <a:t>Free-tier review analytics is real: VADER 0.9712 accuracy at 0.476 ms per review.</a:t>
            </a:r>
          </a:p>
          <a:p>
            <a:pPr>
              <a:spcAft>
                <a:spcPts val="600"/>
              </a:spcAft>
            </a:pPr>
            <a:r>
              <a:rPr sz="1150">
                <a:solidFill>
                  <a:srgbClr val="1E293B"/>
                </a:solidFill>
                <a:latin typeface="Segoe UI"/>
              </a:rPr>
              <a:t>≈17,416 reviews/s ingestion, &lt;150 MB memory, linear scaling.</a:t>
            </a:r>
          </a:p>
          <a:p>
            <a:pPr>
              <a:spcAft>
                <a:spcPts val="600"/>
              </a:spcAft>
            </a:pPr>
            <a:r>
              <a:rPr sz="1150">
                <a:solidFill>
                  <a:srgbClr val="1E293B"/>
                </a:solidFill>
                <a:latin typeface="Segoe UI"/>
              </a:rPr>
              <a:t>$2.50/month at one million reviews — ~120× cheaper than a managed sentiment API.</a:t>
            </a:r>
          </a:p>
          <a:p>
            <a:pPr>
              <a:spcAft>
                <a:spcPts val="600"/>
              </a:spcAft>
            </a:pPr>
            <a:r>
              <a:rPr sz="1150">
                <a:solidFill>
                  <a:srgbClr val="1E293B"/>
                </a:solidFill>
                <a:latin typeface="Segoe UI"/>
              </a:rPr>
              <a:t>105 tests green + browser E2E 9/9; five experiment suites, seed 42, raw numbers in results/.</a:t>
            </a:r>
          </a:p>
          <a:p>
            <a:pPr>
              <a:spcAft>
                <a:spcPts val="600"/>
              </a:spcAft>
            </a:pPr>
            <a:r>
              <a:rPr sz="1150">
                <a:solidFill>
                  <a:srgbClr val="1E293B"/>
                </a:solidFill>
                <a:latin typeface="Segoe UI"/>
              </a:rPr>
              <a:t>Nothing deployed, nothing billed, proposal untouched — the cloud parts activate with credentials, not rewrites.</a:t>
            </a:r>
          </a:p>
        </p:txBody>
      </p:sp>
      <p:sp>
        <p:nvSpPr>
          <p:cNvPr id="10" name="Rounded Rectangle 9"/>
          <p:cNvSpPr/>
          <p:nvPr/>
        </p:nvSpPr>
        <p:spPr>
          <a:xfrm>
            <a:off x="6263640" y="1325880"/>
            <a:ext cx="5486400" cy="3977639"/>
          </a:xfrm>
          <a:prstGeom prst="roundRect">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325880"/>
            <a:ext cx="64008" cy="3977639"/>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1435607"/>
            <a:ext cx="5120640" cy="365760"/>
          </a:xfrm>
          <a:prstGeom prst="rect">
            <a:avLst/>
          </a:prstGeom>
          <a:noFill/>
        </p:spPr>
        <p:txBody>
          <a:bodyPr wrap="square" anchor="t">
            <a:spAutoFit/>
          </a:bodyPr>
          <a:lstStyle/>
          <a:p>
            <a:pPr algn="l"/>
            <a:r>
              <a:rPr sz="1400" b="1">
                <a:solidFill>
                  <a:srgbClr val="0F172A"/>
                </a:solidFill>
                <a:latin typeface="Segoe UI"/>
              </a:rPr>
              <a:t>Next steps</a:t>
            </a:r>
          </a:p>
        </p:txBody>
      </p:sp>
      <p:sp>
        <p:nvSpPr>
          <p:cNvPr id="13" name="TextBox 12"/>
          <p:cNvSpPr txBox="1"/>
          <p:nvPr/>
        </p:nvSpPr>
        <p:spPr>
          <a:xfrm>
            <a:off x="6464807" y="1856231"/>
            <a:ext cx="5102352" cy="3337559"/>
          </a:xfrm>
          <a:prstGeom prst="rect">
            <a:avLst/>
          </a:prstGeom>
          <a:noFill/>
        </p:spPr>
        <p:txBody>
          <a:bodyPr wrap="square">
            <a:spAutoFit/>
          </a:bodyPr>
          <a:lstStyle/>
          <a:p>
            <a:pPr>
              <a:spcAft>
                <a:spcPts val="600"/>
              </a:spcAft>
            </a:pPr>
            <a:r>
              <a:rPr sz="1150">
                <a:solidFill>
                  <a:srgbClr val="1E293B"/>
                </a:solidFill>
                <a:latin typeface="Segoe UI"/>
              </a:rPr>
              <a:t>Connect the proposal stack: Firestore adapter (STORAGE_BACKEND=firestore) + Streamlit dashboard on Community Cloud.</a:t>
            </a:r>
          </a:p>
          <a:p>
            <a:pPr>
              <a:spcAft>
                <a:spcPts val="600"/>
              </a:spcAft>
            </a:pPr>
            <a:r>
              <a:rPr sz="1150">
                <a:solidFill>
                  <a:srgbClr val="1E293B"/>
                </a:solidFill>
                <a:latin typeface="Segoe UI"/>
              </a:rPr>
              <a:t>Live Hugging Face Inference-API token; fine-tune DistilBERT to recover neutral recall.</a:t>
            </a:r>
          </a:p>
          <a:p>
            <a:pPr>
              <a:spcAft>
                <a:spcPts val="600"/>
              </a:spcAft>
            </a:pPr>
            <a:r>
              <a:rPr sz="1150">
                <a:solidFill>
                  <a:srgbClr val="1E293B"/>
                </a:solidFill>
                <a:latin typeface="Segoe UI"/>
              </a:rPr>
              <a:t>Multilingual and aspect-level sentiment (food, service, price) — actionable per-topic scores.</a:t>
            </a:r>
          </a:p>
          <a:p>
            <a:pPr>
              <a:spcAft>
                <a:spcPts val="600"/>
              </a:spcAft>
            </a:pPr>
            <a:r>
              <a:rPr sz="1150">
                <a:solidFill>
                  <a:srgbClr val="1E293B"/>
                </a:solidFill>
                <a:latin typeface="Segoe UI"/>
              </a:rPr>
              <a:t>Streaming ingestion and per-tenant rate limiting for multi-business use.</a:t>
            </a:r>
          </a:p>
          <a:p>
            <a:pPr>
              <a:spcAft>
                <a:spcPts val="600"/>
              </a:spcAft>
            </a:pPr>
            <a:r>
              <a:rPr sz="1150">
                <a:solidFill>
                  <a:srgbClr val="1E293B"/>
                </a:solidFill>
                <a:latin typeface="Segoe UI"/>
              </a:rPr>
              <a:t>CI/CD with drift checks on accuracy and cost; energy/carbon accounting per inference.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257800" y="2514600"/>
            <a:ext cx="1645920" cy="6400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463040"/>
            <a:ext cx="10332720" cy="1005840"/>
          </a:xfrm>
          <a:prstGeom prst="rect">
            <a:avLst/>
          </a:prstGeom>
          <a:noFill/>
        </p:spPr>
        <p:txBody>
          <a:bodyPr wrap="square" anchor="t">
            <a:spAutoFit/>
          </a:bodyPr>
          <a:lstStyle/>
          <a:p>
            <a:pPr algn="ctr"/>
            <a:r>
              <a:rPr sz="4000" b="1">
                <a:solidFill>
                  <a:srgbClr val="FFFFFF"/>
                </a:solidFill>
                <a:latin typeface="Segoe UI"/>
              </a:rPr>
              <a:t>Thank you — questions?</a:t>
            </a:r>
          </a:p>
        </p:txBody>
      </p:sp>
      <p:sp>
        <p:nvSpPr>
          <p:cNvPr id="5" name="TextBox 4"/>
          <p:cNvSpPr txBox="1"/>
          <p:nvPr/>
        </p:nvSpPr>
        <p:spPr>
          <a:xfrm>
            <a:off x="914400" y="2880360"/>
            <a:ext cx="10332720" cy="457200"/>
          </a:xfrm>
          <a:prstGeom prst="rect">
            <a:avLst/>
          </a:prstGeom>
          <a:noFill/>
        </p:spPr>
        <p:txBody>
          <a:bodyPr wrap="square" anchor="t">
            <a:spAutoFit/>
          </a:bodyPr>
          <a:lstStyle/>
          <a:p>
            <a:pPr algn="ctr"/>
            <a:r>
              <a:rPr sz="1600" b="0">
                <a:solidFill>
                  <a:srgbClr val="E2E8F0"/>
                </a:solidFill>
                <a:latin typeface="Segoe UI"/>
              </a:rPr>
              <a:t>Ahmed Bin Jaffar  ·  26MS-DS037  ·  MSDS Semester 2, MUET</a:t>
            </a:r>
          </a:p>
        </p:txBody>
      </p:sp>
      <p:sp>
        <p:nvSpPr>
          <p:cNvPr id="6" name="TextBox 5"/>
          <p:cNvSpPr txBox="1"/>
          <p:nvPr/>
        </p:nvSpPr>
        <p:spPr>
          <a:xfrm>
            <a:off x="914400" y="3886200"/>
            <a:ext cx="10332720" cy="1097280"/>
          </a:xfrm>
          <a:prstGeom prst="rect">
            <a:avLst/>
          </a:prstGeom>
          <a:noFill/>
        </p:spPr>
        <p:txBody>
          <a:bodyPr wrap="square" anchor="t">
            <a:spAutoFit/>
          </a:bodyPr>
          <a:lstStyle/>
          <a:p>
            <a:pPr algn="ctr"/>
            <a:r>
              <a:rPr sz="1300" b="0">
                <a:solidFill>
                  <a:srgbClr val="E2E8F0"/>
                </a:solidFill>
                <a:latin typeface="Segoe UI"/>
              </a:rPr>
              <a:t>Artifacts: docs/Project_Report.docx  ·  presentation/  ·  results/ (raw numbers)  ·  figures/ (300-dpi charts)
Dashboard live at /ui  ·  tests: pytest (105) + Playwright E2E  ·  re-run: scripts/generate_presentation.py</a:t>
            </a:r>
          </a:p>
        </p:txBody>
      </p:sp>
      <p:sp>
        <p:nvSpPr>
          <p:cNvPr id="7" name="TextBox 6"/>
          <p:cNvSpPr txBox="1"/>
          <p:nvPr/>
        </p:nvSpPr>
        <p:spPr>
          <a:xfrm>
            <a:off x="548640" y="6419088"/>
            <a:ext cx="7315200" cy="320040"/>
          </a:xfrm>
          <a:prstGeom prst="rect">
            <a:avLst/>
          </a:prstGeom>
          <a:noFill/>
        </p:spPr>
        <p:txBody>
          <a:bodyPr wrap="square" anchor="t">
            <a:spAutoFit/>
          </a:bodyPr>
          <a:lstStyle/>
          <a:p>
            <a:pPr algn="l"/>
            <a:r>
              <a:rPr sz="900" b="0">
                <a:solidFill>
                  <a:srgbClr val="E2E8F0"/>
                </a:solidFill>
                <a:latin typeface="Segoe UI"/>
              </a:rPr>
              <a:t>Cloud-Based Customer Review Sentiment Analysis Dashboard  ·  26MS-DS037</a:t>
            </a:r>
          </a:p>
        </p:txBody>
      </p:sp>
      <p:sp>
        <p:nvSpPr>
          <p:cNvPr id="8" name="TextBox 7"/>
          <p:cNvSpPr txBox="1"/>
          <p:nvPr/>
        </p:nvSpPr>
        <p:spPr>
          <a:xfrm>
            <a:off x="10972800" y="6419088"/>
            <a:ext cx="822960" cy="320040"/>
          </a:xfrm>
          <a:prstGeom prst="rect">
            <a:avLst/>
          </a:prstGeom>
          <a:noFill/>
        </p:spPr>
        <p:txBody>
          <a:bodyPr wrap="square" anchor="t">
            <a:spAutoFit/>
          </a:bodyPr>
          <a:lstStyle/>
          <a:p>
            <a:pPr algn="r"/>
            <a:r>
              <a:rPr sz="900" b="0">
                <a:solidFill>
                  <a:srgbClr val="E2E8F0"/>
                </a:solidFill>
                <a:latin typeface="Segoe U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